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embeddedFontLst>
    <p:embeddedFont>
      <p:font typeface="DM Sans" pitchFamily="2" charset="0"/>
      <p:regular r:id="rId18"/>
      <p:bold r:id="rId19"/>
      <p:italic r:id="rId20"/>
      <p:boldItalic r:id="rId21"/>
    </p:embeddedFont>
    <p:embeddedFont>
      <p:font typeface="Inter" panose="020B0604020202020204" charset="0"/>
      <p:regular r:id="rId22"/>
      <p:bold r:id="rId23"/>
      <p:italic r:id="rId24"/>
      <p:boldItalic r:id="rId25"/>
    </p:embeddedFont>
    <p:embeddedFont>
      <p:font typeface="Inter SemiBold" panose="020B0604020202020204" charset="0"/>
      <p:regular r:id="rId26"/>
      <p:bold r:id="rId27"/>
      <p:italic r:id="rId28"/>
      <p:boldItalic r:id="rId29"/>
    </p:embeddedFont>
    <p:embeddedFont>
      <p:font typeface="Montserrat" panose="00000500000000000000" pitchFamily="2" charset="0"/>
      <p:regular r:id="rId30"/>
      <p:bold r:id="rId31"/>
      <p:italic r:id="rId32"/>
      <p:boldItalic r:id="rId33"/>
    </p:embeddedFont>
    <p:embeddedFont>
      <p:font typeface="Montserrat ExtraBold" panose="00000900000000000000" pitchFamily="2" charset="0"/>
      <p:bold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AA824F-91FB-4E1A-95CA-A68542059179}">
  <a:tblStyle styleId="{FBAA824F-91FB-4E1A-95CA-A68542059179}"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12" y="-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tableStyles" Target="tableStyles.xml"/><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0" name="Google Shape;27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5" name="Google Shape;285;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3" name="Google Shape;32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46" name="Google Shape;34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4" name="Google Shape;374;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1.png"/><Relationship Id="rId7"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 Id="rId9"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1.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1.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1.png"/><Relationship Id="rId7" Type="http://schemas.openxmlformats.org/officeDocument/2006/relationships/image" Target="../media/image5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56.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8.png"/><Relationship Id="rId4" Type="http://schemas.openxmlformats.org/officeDocument/2006/relationships/image" Target="../media/image57.png"/></Relationships>
</file>

<file path=ppt/slides/_rels/slide13.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1.png"/><Relationship Id="rId7" Type="http://schemas.openxmlformats.org/officeDocument/2006/relationships/image" Target="../media/image6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1.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15.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image" Target="../media/image1.png"/><Relationship Id="rId7" Type="http://schemas.openxmlformats.org/officeDocument/2006/relationships/image" Target="../media/image7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 Id="rId9" Type="http://schemas.openxmlformats.org/officeDocument/2006/relationships/image" Target="../media/image7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6" name="Google Shape;86;p13" descr="image.png"/>
          <p:cNvPicPr preferRelativeResize="0"/>
          <p:nvPr/>
        </p:nvPicPr>
        <p:blipFill rotWithShape="1">
          <a:blip r:embed="rId4">
            <a:alphaModFix/>
          </a:blip>
          <a:srcRect/>
          <a:stretch/>
        </p:blipFill>
        <p:spPr>
          <a:xfrm>
            <a:off x="6096000" y="9525"/>
            <a:ext cx="6086475" cy="6838950"/>
          </a:xfrm>
          <a:prstGeom prst="rect">
            <a:avLst/>
          </a:prstGeom>
          <a:noFill/>
          <a:ln>
            <a:noFill/>
          </a:ln>
        </p:spPr>
      </p:pic>
      <p:sp>
        <p:nvSpPr>
          <p:cNvPr id="87" name="Google Shape;87;p13"/>
          <p:cNvSpPr txBox="1"/>
          <p:nvPr/>
        </p:nvSpPr>
        <p:spPr>
          <a:xfrm>
            <a:off x="581025" y="533400"/>
            <a:ext cx="2290762"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1" i="0" u="none" strike="noStrike" cap="none">
                <a:solidFill>
                  <a:srgbClr val="14B8A6"/>
                </a:solidFill>
                <a:latin typeface="Montserrat"/>
                <a:ea typeface="Montserrat"/>
                <a:cs typeface="Montserrat"/>
                <a:sym typeface="Montserrat"/>
              </a:rPr>
              <a:t>DATA PORTFOLIO CASE STUDY</a:t>
            </a:r>
            <a:endParaRPr/>
          </a:p>
        </p:txBody>
      </p:sp>
      <p:sp>
        <p:nvSpPr>
          <p:cNvPr id="88" name="Google Shape;88;p13"/>
          <p:cNvSpPr txBox="1"/>
          <p:nvPr/>
        </p:nvSpPr>
        <p:spPr>
          <a:xfrm>
            <a:off x="581025" y="1009650"/>
            <a:ext cx="5790723" cy="879871"/>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0" i="0" u="none" strike="noStrike" cap="none">
                <a:solidFill>
                  <a:srgbClr val="FFFFFF"/>
                </a:solidFill>
                <a:latin typeface="Montserrat ExtraBold"/>
                <a:ea typeface="Montserrat ExtraBold"/>
                <a:cs typeface="Montserrat ExtraBold"/>
                <a:sym typeface="Montserrat ExtraBold"/>
              </a:rPr>
              <a:t>Customer Shopping</a:t>
            </a:r>
            <a:br>
              <a:rPr lang="en-US" sz="1800" b="0" i="0" u="none" strike="noStrike" cap="none">
                <a:solidFill>
                  <a:schemeClr val="dk1"/>
                </a:solidFill>
                <a:latin typeface="Calibri"/>
                <a:ea typeface="Calibri"/>
                <a:cs typeface="Calibri"/>
                <a:sym typeface="Calibri"/>
              </a:rPr>
            </a:br>
            <a:r>
              <a:rPr lang="en-US" sz="3150" b="0" i="0" u="none" strike="noStrike" cap="none">
                <a:solidFill>
                  <a:srgbClr val="D9A05B"/>
                </a:solidFill>
                <a:latin typeface="Montserrat ExtraBold"/>
                <a:ea typeface="Montserrat ExtraBold"/>
                <a:cs typeface="Montserrat ExtraBold"/>
                <a:sym typeface="Montserrat ExtraBold"/>
              </a:rPr>
              <a:t>Behavior Analysis</a:t>
            </a:r>
            <a:endParaRPr/>
          </a:p>
        </p:txBody>
      </p:sp>
      <p:sp>
        <p:nvSpPr>
          <p:cNvPr id="89" name="Google Shape;89;p13"/>
          <p:cNvSpPr txBox="1"/>
          <p:nvPr/>
        </p:nvSpPr>
        <p:spPr>
          <a:xfrm>
            <a:off x="581025" y="2080021"/>
            <a:ext cx="5514975"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Leveraging transaction analytics from 3,900 purchases to guide retail marketing campaign design and corporate strategy.</a:t>
            </a:r>
            <a:endParaRPr/>
          </a:p>
        </p:txBody>
      </p:sp>
      <p:sp>
        <p:nvSpPr>
          <p:cNvPr id="90" name="Google Shape;90;p13"/>
          <p:cNvSpPr txBox="1"/>
          <p:nvPr/>
        </p:nvSpPr>
        <p:spPr>
          <a:xfrm>
            <a:off x="581025" y="6067425"/>
            <a:ext cx="1276350" cy="1538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1" i="0" u="none" strike="noStrike" cap="none" dirty="0">
                <a:solidFill>
                  <a:srgbClr val="64748B"/>
                </a:solidFill>
                <a:latin typeface="Inter"/>
                <a:ea typeface="Inter"/>
                <a:cs typeface="Inter"/>
                <a:sym typeface="Inter"/>
              </a:rPr>
              <a:t>ENVIRONMENT</a:t>
            </a:r>
            <a:endParaRPr sz="1000" dirty="0"/>
          </a:p>
        </p:txBody>
      </p:sp>
      <p:sp>
        <p:nvSpPr>
          <p:cNvPr id="91" name="Google Shape;91;p13"/>
          <p:cNvSpPr txBox="1"/>
          <p:nvPr/>
        </p:nvSpPr>
        <p:spPr>
          <a:xfrm>
            <a:off x="581025" y="6324600"/>
            <a:ext cx="2556811"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FFFFFF"/>
                </a:solidFill>
                <a:latin typeface="Inter SemiBold"/>
                <a:ea typeface="Inter SemiBold"/>
                <a:cs typeface="Inter SemiBold"/>
                <a:sym typeface="Inter SemiBold"/>
              </a:rPr>
              <a:t>Python &amp; PostgreSQL</a:t>
            </a:r>
            <a:endParaRPr sz="1200" dirty="0"/>
          </a:p>
        </p:txBody>
      </p:sp>
      <p:pic>
        <p:nvPicPr>
          <p:cNvPr id="2" name="Image 0" descr="preencoded.png">
            <a:extLst>
              <a:ext uri="{FF2B5EF4-FFF2-40B4-BE49-F238E27FC236}">
                <a16:creationId xmlns:a16="http://schemas.microsoft.com/office/drawing/2014/main" id="{927C4293-9369-230D-76EC-BA20F1386C03}"/>
              </a:ext>
            </a:extLst>
          </p:cNvPr>
          <p:cNvPicPr>
            <a:picLocks noChangeAspect="1"/>
          </p:cNvPicPr>
          <p:nvPr/>
        </p:nvPicPr>
        <p:blipFill>
          <a:blip r:embed="rId5"/>
          <a:stretch>
            <a:fillRect/>
          </a:stretch>
        </p:blipFill>
        <p:spPr>
          <a:xfrm>
            <a:off x="6671784" y="-9525"/>
            <a:ext cx="552021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7"/>
        <p:cNvGrpSpPr/>
        <p:nvPr/>
      </p:nvGrpSpPr>
      <p:grpSpPr>
        <a:xfrm>
          <a:off x="0" y="0"/>
          <a:ext cx="0" cy="0"/>
          <a:chOff x="0" y="0"/>
          <a:chExt cx="0" cy="0"/>
        </a:xfrm>
      </p:grpSpPr>
      <p:pic>
        <p:nvPicPr>
          <p:cNvPr id="98" name="Google Shape;98;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9" name="Google Shape;99;p14" descr="image.png"/>
          <p:cNvPicPr preferRelativeResize="0"/>
          <p:nvPr/>
        </p:nvPicPr>
        <p:blipFill rotWithShape="1">
          <a:blip r:embed="rId4">
            <a:alphaModFix/>
          </a:blip>
          <a:srcRect/>
          <a:stretch/>
        </p:blipFill>
        <p:spPr>
          <a:xfrm>
            <a:off x="581025" y="3000375"/>
            <a:ext cx="5276850" cy="1914525"/>
          </a:xfrm>
          <a:prstGeom prst="rect">
            <a:avLst/>
          </a:prstGeom>
          <a:noFill/>
          <a:ln>
            <a:noFill/>
          </a:ln>
        </p:spPr>
      </p:pic>
      <p:pic>
        <p:nvPicPr>
          <p:cNvPr id="100" name="Google Shape;100;p14" descr="image.png"/>
          <p:cNvPicPr preferRelativeResize="0"/>
          <p:nvPr/>
        </p:nvPicPr>
        <p:blipFill rotWithShape="1">
          <a:blip r:embed="rId5">
            <a:alphaModFix/>
          </a:blip>
          <a:srcRect/>
          <a:stretch/>
        </p:blipFill>
        <p:spPr>
          <a:xfrm>
            <a:off x="6334125" y="3000375"/>
            <a:ext cx="5276850" cy="1914525"/>
          </a:xfrm>
          <a:prstGeom prst="rect">
            <a:avLst/>
          </a:prstGeom>
          <a:noFill/>
          <a:ln>
            <a:noFill/>
          </a:ln>
        </p:spPr>
      </p:pic>
      <p:pic>
        <p:nvPicPr>
          <p:cNvPr id="101" name="Google Shape;101;p14" descr="image.png"/>
          <p:cNvPicPr preferRelativeResize="0"/>
          <p:nvPr/>
        </p:nvPicPr>
        <p:blipFill rotWithShape="1">
          <a:blip r:embed="rId6">
            <a:alphaModFix/>
          </a:blip>
          <a:srcRect/>
          <a:stretch/>
        </p:blipFill>
        <p:spPr>
          <a:xfrm>
            <a:off x="9777412" y="485775"/>
            <a:ext cx="1833562" cy="228600"/>
          </a:xfrm>
          <a:prstGeom prst="rect">
            <a:avLst/>
          </a:prstGeom>
          <a:noFill/>
          <a:ln>
            <a:noFill/>
          </a:ln>
        </p:spPr>
      </p:pic>
      <p:sp>
        <p:nvSpPr>
          <p:cNvPr id="102" name="Google Shape;102;p14"/>
          <p:cNvSpPr txBox="1"/>
          <p:nvPr/>
        </p:nvSpPr>
        <p:spPr>
          <a:xfrm>
            <a:off x="1190625" y="3295650"/>
            <a:ext cx="4590573"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4B8A6"/>
                </a:solidFill>
                <a:latin typeface="Montserrat"/>
                <a:ea typeface="Montserrat"/>
                <a:cs typeface="Montserrat"/>
                <a:sym typeface="Montserrat"/>
              </a:rPr>
              <a:t>Executive Case Summary</a:t>
            </a:r>
            <a:endParaRPr/>
          </a:p>
        </p:txBody>
      </p:sp>
      <p:sp>
        <p:nvSpPr>
          <p:cNvPr id="103" name="Google Shape;103;p14"/>
          <p:cNvSpPr txBox="1"/>
          <p:nvPr/>
        </p:nvSpPr>
        <p:spPr>
          <a:xfrm>
            <a:off x="876300" y="3667125"/>
            <a:ext cx="4686300" cy="952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chemeClr val="bg2">
                    <a:lumMod val="20000"/>
                    <a:lumOff val="80000"/>
                  </a:schemeClr>
                </a:solidFill>
                <a:latin typeface="Inter"/>
                <a:ea typeface="Inter"/>
                <a:cs typeface="Inter"/>
                <a:sym typeface="Inter"/>
              </a:rPr>
              <a:t>This analytics case investigates purchase histories across 25 distinct consumer lines. By analyzing key demographics, subscription commitments, and regional purchase schedules, the system identifies structural revenue channels to improve customer acquisition and loyalty.</a:t>
            </a:r>
            <a:endParaRPr dirty="0">
              <a:solidFill>
                <a:schemeClr val="bg2">
                  <a:lumMod val="20000"/>
                  <a:lumOff val="80000"/>
                </a:schemeClr>
              </a:solidFill>
            </a:endParaRPr>
          </a:p>
        </p:txBody>
      </p:sp>
      <p:sp>
        <p:nvSpPr>
          <p:cNvPr id="104" name="Google Shape;104;p14"/>
          <p:cNvSpPr txBox="1"/>
          <p:nvPr/>
        </p:nvSpPr>
        <p:spPr>
          <a:xfrm>
            <a:off x="6915150" y="3295650"/>
            <a:ext cx="4620577"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4B8A6"/>
                </a:solidFill>
                <a:latin typeface="Montserrat"/>
                <a:ea typeface="Montserrat"/>
                <a:cs typeface="Montserrat"/>
                <a:sym typeface="Montserrat"/>
              </a:rPr>
              <a:t>Targeted Project Objectives</a:t>
            </a:r>
            <a:endParaRPr/>
          </a:p>
        </p:txBody>
      </p:sp>
      <p:sp>
        <p:nvSpPr>
          <p:cNvPr id="105" name="Google Shape;105;p14"/>
          <p:cNvSpPr txBox="1"/>
          <p:nvPr/>
        </p:nvSpPr>
        <p:spPr>
          <a:xfrm>
            <a:off x="6629400" y="3667125"/>
            <a:ext cx="4686300" cy="952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chemeClr val="bg2">
                    <a:lumMod val="20000"/>
                    <a:lumOff val="80000"/>
                  </a:schemeClr>
                </a:solidFill>
                <a:latin typeface="Inter"/>
                <a:ea typeface="Inter"/>
                <a:cs typeface="Inter"/>
                <a:sym typeface="Inter"/>
              </a:rPr>
              <a:t>Key focus areas include identifying high-spending discount users, mapping seasonal behavior variations, and analyzing localized transaction paths. This allows the business to transition standard buyers into repeat, loyal subscription accounts, protecting baseline margins.</a:t>
            </a:r>
            <a:endParaRPr dirty="0">
              <a:solidFill>
                <a:schemeClr val="bg2">
                  <a:lumMod val="20000"/>
                  <a:lumOff val="80000"/>
                </a:schemeClr>
              </a:solidFill>
            </a:endParaRPr>
          </a:p>
        </p:txBody>
      </p:sp>
      <p:pic>
        <p:nvPicPr>
          <p:cNvPr id="106" name="Google Shape;106;p14" descr="image.png"/>
          <p:cNvPicPr preferRelativeResize="0"/>
          <p:nvPr/>
        </p:nvPicPr>
        <p:blipFill rotWithShape="1">
          <a:blip r:embed="rId7">
            <a:alphaModFix/>
          </a:blip>
          <a:srcRect/>
          <a:stretch/>
        </p:blipFill>
        <p:spPr>
          <a:xfrm>
            <a:off x="876300" y="3314700"/>
            <a:ext cx="219075" cy="190500"/>
          </a:xfrm>
          <a:prstGeom prst="rect">
            <a:avLst/>
          </a:prstGeom>
          <a:noFill/>
          <a:ln>
            <a:noFill/>
          </a:ln>
        </p:spPr>
      </p:pic>
      <p:pic>
        <p:nvPicPr>
          <p:cNvPr id="107" name="Google Shape;107;p14" descr="image.png"/>
          <p:cNvPicPr preferRelativeResize="0"/>
          <p:nvPr/>
        </p:nvPicPr>
        <p:blipFill rotWithShape="1">
          <a:blip r:embed="rId8">
            <a:alphaModFix/>
          </a:blip>
          <a:srcRect/>
          <a:stretch/>
        </p:blipFill>
        <p:spPr>
          <a:xfrm>
            <a:off x="6629400" y="3314700"/>
            <a:ext cx="190500" cy="190500"/>
          </a:xfrm>
          <a:prstGeom prst="rect">
            <a:avLst/>
          </a:prstGeom>
          <a:noFill/>
          <a:ln>
            <a:noFill/>
          </a:ln>
        </p:spPr>
      </p:pic>
      <p:sp>
        <p:nvSpPr>
          <p:cNvPr id="108" name="Google Shape;108;p14"/>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Strategic Positioning</a:t>
            </a:r>
            <a:endParaRPr/>
          </a:p>
        </p:txBody>
      </p:sp>
      <p:sp>
        <p:nvSpPr>
          <p:cNvPr id="109" name="Google Shape;109;p14"/>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Project </a:t>
            </a:r>
            <a:r>
              <a:rPr lang="en-US" sz="2550" b="0" i="0" u="none" strike="noStrike" cap="none">
                <a:solidFill>
                  <a:srgbClr val="D9A05B"/>
                </a:solidFill>
                <a:latin typeface="Montserrat ExtraBold"/>
                <a:ea typeface="Montserrat ExtraBold"/>
                <a:cs typeface="Montserrat ExtraBold"/>
                <a:sym typeface="Montserrat ExtraBold"/>
              </a:rPr>
              <a:t>Overview</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3"/>
        <p:cNvGrpSpPr/>
        <p:nvPr/>
      </p:nvGrpSpPr>
      <p:grpSpPr>
        <a:xfrm>
          <a:off x="0" y="0"/>
          <a:ext cx="0" cy="0"/>
          <a:chOff x="0" y="0"/>
          <a:chExt cx="0" cy="0"/>
        </a:xfrm>
      </p:grpSpPr>
      <p:pic>
        <p:nvPicPr>
          <p:cNvPr id="114" name="Google Shape;114;p15" descr="image.png"/>
          <p:cNvPicPr preferRelativeResize="0"/>
          <p:nvPr/>
        </p:nvPicPr>
        <p:blipFill rotWithShape="1">
          <a:blip r:embed="rId3">
            <a:alphaModFix/>
          </a:blip>
          <a:srcRect/>
          <a:stretch/>
        </p:blipFill>
        <p:spPr>
          <a:xfrm>
            <a:off x="-823288" y="-2718644"/>
            <a:ext cx="12192000" cy="6858000"/>
          </a:xfrm>
          <a:prstGeom prst="rect">
            <a:avLst/>
          </a:prstGeom>
          <a:noFill/>
          <a:ln>
            <a:noFill/>
          </a:ln>
        </p:spPr>
      </p:pic>
      <p:pic>
        <p:nvPicPr>
          <p:cNvPr id="115" name="Google Shape;115;p15" descr="image.png"/>
          <p:cNvPicPr preferRelativeResize="0"/>
          <p:nvPr/>
        </p:nvPicPr>
        <p:blipFill rotWithShape="1">
          <a:blip r:embed="rId4">
            <a:alphaModFix/>
          </a:blip>
          <a:srcRect/>
          <a:stretch/>
        </p:blipFill>
        <p:spPr>
          <a:xfrm>
            <a:off x="581025" y="3582292"/>
            <a:ext cx="3549699" cy="1217265"/>
          </a:xfrm>
          <a:prstGeom prst="rect">
            <a:avLst/>
          </a:prstGeom>
          <a:noFill/>
          <a:ln>
            <a:noFill/>
          </a:ln>
        </p:spPr>
      </p:pic>
      <p:pic>
        <p:nvPicPr>
          <p:cNvPr id="116" name="Google Shape;116;p15" descr="image.png"/>
          <p:cNvPicPr preferRelativeResize="0"/>
          <p:nvPr/>
        </p:nvPicPr>
        <p:blipFill rotWithShape="1">
          <a:blip r:embed="rId5">
            <a:alphaModFix/>
          </a:blip>
          <a:srcRect/>
          <a:stretch/>
        </p:blipFill>
        <p:spPr>
          <a:xfrm>
            <a:off x="4321224" y="3582292"/>
            <a:ext cx="3549699" cy="1217265"/>
          </a:xfrm>
          <a:prstGeom prst="rect">
            <a:avLst/>
          </a:prstGeom>
          <a:noFill/>
          <a:ln>
            <a:noFill/>
          </a:ln>
        </p:spPr>
      </p:pic>
      <p:pic>
        <p:nvPicPr>
          <p:cNvPr id="117" name="Google Shape;117;p15" descr="image.png"/>
          <p:cNvPicPr preferRelativeResize="0"/>
          <p:nvPr/>
        </p:nvPicPr>
        <p:blipFill rotWithShape="1">
          <a:blip r:embed="rId6">
            <a:alphaModFix/>
          </a:blip>
          <a:srcRect/>
          <a:stretch/>
        </p:blipFill>
        <p:spPr>
          <a:xfrm>
            <a:off x="8061424" y="3582292"/>
            <a:ext cx="3549699" cy="1217265"/>
          </a:xfrm>
          <a:prstGeom prst="rect">
            <a:avLst/>
          </a:prstGeom>
          <a:noFill/>
          <a:ln>
            <a:noFill/>
          </a:ln>
        </p:spPr>
      </p:pic>
      <p:pic>
        <p:nvPicPr>
          <p:cNvPr id="118" name="Google Shape;118;p15" descr="image.png"/>
          <p:cNvPicPr preferRelativeResize="0"/>
          <p:nvPr/>
        </p:nvPicPr>
        <p:blipFill rotWithShape="1">
          <a:blip r:embed="rId7">
            <a:alphaModFix/>
          </a:blip>
          <a:srcRect/>
          <a:stretch/>
        </p:blipFill>
        <p:spPr>
          <a:xfrm>
            <a:off x="10158412" y="485775"/>
            <a:ext cx="1452562" cy="228600"/>
          </a:xfrm>
          <a:prstGeom prst="rect">
            <a:avLst/>
          </a:prstGeom>
          <a:noFill/>
          <a:ln>
            <a:noFill/>
          </a:ln>
        </p:spPr>
      </p:pic>
      <p:sp>
        <p:nvSpPr>
          <p:cNvPr id="119" name="Google Shape;119;p15"/>
          <p:cNvSpPr txBox="1"/>
          <p:nvPr/>
        </p:nvSpPr>
        <p:spPr>
          <a:xfrm>
            <a:off x="581025" y="3115567"/>
            <a:ext cx="110299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dirty="0">
                <a:solidFill>
                  <a:srgbClr val="94A3B8"/>
                </a:solidFill>
                <a:latin typeface="Inter"/>
                <a:ea typeface="Inter"/>
                <a:cs typeface="Inter"/>
                <a:sym typeface="Inter"/>
              </a:rPr>
              <a:t>Analyzing a clean, structured transactional ledger tracking user attributes, detailed order categories, and verified historical records.</a:t>
            </a:r>
            <a:endParaRPr dirty="0"/>
          </a:p>
        </p:txBody>
      </p:sp>
      <p:sp>
        <p:nvSpPr>
          <p:cNvPr id="120" name="Google Shape;120;p15"/>
          <p:cNvSpPr/>
          <p:nvPr/>
        </p:nvSpPr>
        <p:spPr>
          <a:xfrm flipH="1">
            <a:off x="2374923" y="3591817"/>
            <a:ext cx="1689126" cy="1198216"/>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1" name="Google Shape;121;p15"/>
          <p:cNvSpPr txBox="1"/>
          <p:nvPr/>
        </p:nvSpPr>
        <p:spPr>
          <a:xfrm>
            <a:off x="838200" y="3801367"/>
            <a:ext cx="3035349"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3,900</a:t>
            </a:r>
            <a:endParaRPr/>
          </a:p>
        </p:txBody>
      </p:sp>
      <p:sp>
        <p:nvSpPr>
          <p:cNvPr id="122" name="Google Shape;122;p15"/>
          <p:cNvSpPr txBox="1"/>
          <p:nvPr/>
        </p:nvSpPr>
        <p:spPr>
          <a:xfrm>
            <a:off x="838200" y="4275683"/>
            <a:ext cx="303534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TOTAL TRANSACTIONS</a:t>
            </a:r>
            <a:endParaRPr/>
          </a:p>
        </p:txBody>
      </p:sp>
      <p:sp>
        <p:nvSpPr>
          <p:cNvPr id="123" name="Google Shape;123;p15"/>
          <p:cNvSpPr txBox="1"/>
          <p:nvPr/>
        </p:nvSpPr>
        <p:spPr>
          <a:xfrm>
            <a:off x="838200" y="4447133"/>
            <a:ext cx="303534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64748B"/>
                </a:solidFill>
                <a:latin typeface="Inter"/>
                <a:ea typeface="Inter"/>
                <a:cs typeface="Inter"/>
                <a:sym typeface="Inter"/>
              </a:rPr>
              <a:t>Row count validation</a:t>
            </a:r>
            <a:endParaRPr/>
          </a:p>
        </p:txBody>
      </p:sp>
      <p:sp>
        <p:nvSpPr>
          <p:cNvPr id="124" name="Google Shape;124;p15"/>
          <p:cNvSpPr/>
          <p:nvPr/>
        </p:nvSpPr>
        <p:spPr>
          <a:xfrm flipH="1">
            <a:off x="6115122" y="3591817"/>
            <a:ext cx="1657120" cy="1198216"/>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5" name="Google Shape;125;p15"/>
          <p:cNvSpPr txBox="1"/>
          <p:nvPr/>
        </p:nvSpPr>
        <p:spPr>
          <a:xfrm>
            <a:off x="4578399" y="3801367"/>
            <a:ext cx="3035349"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18</a:t>
            </a:r>
            <a:endParaRPr/>
          </a:p>
        </p:txBody>
      </p:sp>
      <p:sp>
        <p:nvSpPr>
          <p:cNvPr id="126" name="Google Shape;126;p15"/>
          <p:cNvSpPr txBox="1"/>
          <p:nvPr/>
        </p:nvSpPr>
        <p:spPr>
          <a:xfrm>
            <a:off x="4578399" y="4275683"/>
            <a:ext cx="303534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CORE ATTRIBUTES</a:t>
            </a:r>
            <a:endParaRPr/>
          </a:p>
        </p:txBody>
      </p:sp>
      <p:sp>
        <p:nvSpPr>
          <p:cNvPr id="127" name="Google Shape;127;p15"/>
          <p:cNvSpPr txBox="1"/>
          <p:nvPr/>
        </p:nvSpPr>
        <p:spPr>
          <a:xfrm>
            <a:off x="4578399" y="4447133"/>
            <a:ext cx="303534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64748B"/>
                </a:solidFill>
                <a:latin typeface="Inter"/>
                <a:ea typeface="Inter"/>
                <a:cs typeface="Inter"/>
                <a:sym typeface="Inter"/>
              </a:rPr>
              <a:t>Dimensional features</a:t>
            </a:r>
            <a:endParaRPr/>
          </a:p>
        </p:txBody>
      </p:sp>
      <p:sp>
        <p:nvSpPr>
          <p:cNvPr id="128" name="Google Shape;128;p15"/>
          <p:cNvSpPr/>
          <p:nvPr/>
        </p:nvSpPr>
        <p:spPr>
          <a:xfrm>
            <a:off x="9817223" y="3591817"/>
            <a:ext cx="1727225" cy="1198216"/>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9" name="Google Shape;129;p15"/>
          <p:cNvSpPr txBox="1"/>
          <p:nvPr/>
        </p:nvSpPr>
        <p:spPr>
          <a:xfrm>
            <a:off x="8318599" y="3801367"/>
            <a:ext cx="3035349"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37</a:t>
            </a:r>
            <a:endParaRPr/>
          </a:p>
        </p:txBody>
      </p:sp>
      <p:sp>
        <p:nvSpPr>
          <p:cNvPr id="130" name="Google Shape;130;p15"/>
          <p:cNvSpPr txBox="1"/>
          <p:nvPr/>
        </p:nvSpPr>
        <p:spPr>
          <a:xfrm>
            <a:off x="8318599" y="4275683"/>
            <a:ext cx="303534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MISSING RATINGS IMPUTED</a:t>
            </a:r>
            <a:endParaRPr/>
          </a:p>
        </p:txBody>
      </p:sp>
      <p:sp>
        <p:nvSpPr>
          <p:cNvPr id="131" name="Google Shape;131;p15"/>
          <p:cNvSpPr txBox="1"/>
          <p:nvPr/>
        </p:nvSpPr>
        <p:spPr>
          <a:xfrm>
            <a:off x="8318599" y="4447133"/>
            <a:ext cx="3035349"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64748B"/>
                </a:solidFill>
                <a:latin typeface="Inter"/>
                <a:ea typeface="Inter"/>
                <a:cs typeface="Inter"/>
                <a:sym typeface="Inter"/>
              </a:rPr>
              <a:t>Review rating columns</a:t>
            </a:r>
            <a:endParaRPr/>
          </a:p>
        </p:txBody>
      </p:sp>
      <p:sp>
        <p:nvSpPr>
          <p:cNvPr id="132" name="Google Shape;132;p15"/>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Information Architecture</a:t>
            </a:r>
            <a:endParaRPr/>
          </a:p>
        </p:txBody>
      </p:sp>
      <p:sp>
        <p:nvSpPr>
          <p:cNvPr id="133" name="Google Shape;133;p15"/>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Dataset </a:t>
            </a:r>
            <a:r>
              <a:rPr lang="en-US" sz="2550" b="0" i="0" u="none" strike="noStrike" cap="none">
                <a:solidFill>
                  <a:srgbClr val="D9A05B"/>
                </a:solidFill>
                <a:latin typeface="Montserrat ExtraBold"/>
                <a:ea typeface="Montserrat ExtraBold"/>
                <a:cs typeface="Montserrat ExtraBold"/>
                <a:sym typeface="Montserrat ExtraBold"/>
              </a:rPr>
              <a:t>Summary</a:t>
            </a:r>
            <a:endParaRPr/>
          </a:p>
        </p:txBody>
      </p:sp>
      <p:sp>
        <p:nvSpPr>
          <p:cNvPr id="3" name="TextBox 2">
            <a:extLst>
              <a:ext uri="{FF2B5EF4-FFF2-40B4-BE49-F238E27FC236}">
                <a16:creationId xmlns:a16="http://schemas.microsoft.com/office/drawing/2014/main" id="{20EFAD52-765E-6593-7381-9DE359402453}"/>
              </a:ext>
            </a:extLst>
          </p:cNvPr>
          <p:cNvSpPr txBox="1"/>
          <p:nvPr/>
        </p:nvSpPr>
        <p:spPr>
          <a:xfrm>
            <a:off x="2484320" y="3779549"/>
            <a:ext cx="1588897" cy="784830"/>
          </a:xfrm>
          <a:prstGeom prst="rect">
            <a:avLst/>
          </a:prstGeom>
          <a:noFill/>
        </p:spPr>
        <p:txBody>
          <a:bodyPr wrap="none" rtlCol="0">
            <a:spAutoFit/>
          </a:bodyPr>
          <a:lstStyle/>
          <a:p>
            <a:r>
              <a:rPr lang="en-US" sz="1500" dirty="0">
                <a:solidFill>
                  <a:schemeClr val="accent1">
                    <a:lumMod val="50000"/>
                  </a:schemeClr>
                </a:solidFill>
                <a:latin typeface="+mj-lt"/>
              </a:rPr>
              <a:t>Comprehensive </a:t>
            </a:r>
          </a:p>
          <a:p>
            <a:r>
              <a:rPr lang="en-US" sz="1500" dirty="0">
                <a:solidFill>
                  <a:schemeClr val="accent1">
                    <a:lumMod val="50000"/>
                  </a:schemeClr>
                </a:solidFill>
                <a:latin typeface="+mj-lt"/>
              </a:rPr>
              <a:t>Transaction</a:t>
            </a:r>
          </a:p>
          <a:p>
            <a:r>
              <a:rPr lang="en-US" sz="1500" dirty="0">
                <a:solidFill>
                  <a:schemeClr val="accent1">
                    <a:lumMod val="50000"/>
                  </a:schemeClr>
                </a:solidFill>
                <a:latin typeface="+mj-lt"/>
              </a:rPr>
              <a:t>Data</a:t>
            </a:r>
          </a:p>
        </p:txBody>
      </p:sp>
      <p:sp>
        <p:nvSpPr>
          <p:cNvPr id="5" name="TextBox 4">
            <a:extLst>
              <a:ext uri="{FF2B5EF4-FFF2-40B4-BE49-F238E27FC236}">
                <a16:creationId xmlns:a16="http://schemas.microsoft.com/office/drawing/2014/main" id="{34F1E8B4-1C60-0312-86BA-96DAD3FDBE71}"/>
              </a:ext>
            </a:extLst>
          </p:cNvPr>
          <p:cNvSpPr txBox="1"/>
          <p:nvPr/>
        </p:nvSpPr>
        <p:spPr>
          <a:xfrm>
            <a:off x="6213803" y="3796336"/>
            <a:ext cx="1558440" cy="738664"/>
          </a:xfrm>
          <a:prstGeom prst="rect">
            <a:avLst/>
          </a:prstGeom>
          <a:noFill/>
        </p:spPr>
        <p:txBody>
          <a:bodyPr wrap="none" rtlCol="0">
            <a:spAutoFit/>
          </a:bodyPr>
          <a:lstStyle/>
          <a:p>
            <a:r>
              <a:rPr lang="en-US" dirty="0">
                <a:solidFill>
                  <a:schemeClr val="accent1">
                    <a:lumMod val="50000"/>
                  </a:schemeClr>
                </a:solidFill>
                <a:latin typeface="+mj-lt"/>
              </a:rPr>
              <a:t>Customer</a:t>
            </a:r>
          </a:p>
          <a:p>
            <a:r>
              <a:rPr lang="en-US" dirty="0">
                <a:solidFill>
                  <a:schemeClr val="accent1">
                    <a:lumMod val="50000"/>
                  </a:schemeClr>
                </a:solidFill>
                <a:latin typeface="+mj-lt"/>
              </a:rPr>
              <a:t>Demographics &amp;</a:t>
            </a:r>
          </a:p>
          <a:p>
            <a:r>
              <a:rPr lang="en-US" dirty="0">
                <a:solidFill>
                  <a:schemeClr val="accent1">
                    <a:lumMod val="50000"/>
                  </a:schemeClr>
                </a:solidFill>
                <a:latin typeface="+mj-lt"/>
              </a:rPr>
              <a:t>Behavior</a:t>
            </a:r>
          </a:p>
        </p:txBody>
      </p:sp>
      <p:sp>
        <p:nvSpPr>
          <p:cNvPr id="6" name="TextBox 5">
            <a:extLst>
              <a:ext uri="{FF2B5EF4-FFF2-40B4-BE49-F238E27FC236}">
                <a16:creationId xmlns:a16="http://schemas.microsoft.com/office/drawing/2014/main" id="{9B31EFF9-18F5-190F-0E7B-57A04A1AE76E}"/>
              </a:ext>
            </a:extLst>
          </p:cNvPr>
          <p:cNvSpPr txBox="1"/>
          <p:nvPr/>
        </p:nvSpPr>
        <p:spPr>
          <a:xfrm>
            <a:off x="9865026" y="3895011"/>
            <a:ext cx="1532439" cy="523220"/>
          </a:xfrm>
          <a:prstGeom prst="rect">
            <a:avLst/>
          </a:prstGeom>
          <a:noFill/>
        </p:spPr>
        <p:txBody>
          <a:bodyPr wrap="square" rtlCol="0">
            <a:spAutoFit/>
          </a:bodyPr>
          <a:lstStyle/>
          <a:p>
            <a:r>
              <a:rPr lang="en-US" dirty="0">
                <a:solidFill>
                  <a:schemeClr val="accent1">
                    <a:lumMod val="50000"/>
                  </a:schemeClr>
                </a:solidFill>
                <a:latin typeface="+mj-lt"/>
              </a:rPr>
              <a:t>Only In Review </a:t>
            </a:r>
          </a:p>
          <a:p>
            <a:r>
              <a:rPr lang="en-US" dirty="0">
                <a:solidFill>
                  <a:schemeClr val="accent1">
                    <a:lumMod val="50000"/>
                  </a:schemeClr>
                </a:solidFill>
                <a:latin typeface="+mj-lt"/>
              </a:rPr>
              <a:t>Rating Column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37"/>
        <p:cNvGrpSpPr/>
        <p:nvPr/>
      </p:nvGrpSpPr>
      <p:grpSpPr>
        <a:xfrm>
          <a:off x="0" y="0"/>
          <a:ext cx="0" cy="0"/>
          <a:chOff x="0" y="0"/>
          <a:chExt cx="0" cy="0"/>
        </a:xfrm>
      </p:grpSpPr>
      <p:pic>
        <p:nvPicPr>
          <p:cNvPr id="138" name="Google Shape;138;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9" name="Google Shape;139;p16" descr="image.png"/>
          <p:cNvPicPr preferRelativeResize="0"/>
          <p:nvPr/>
        </p:nvPicPr>
        <p:blipFill rotWithShape="1">
          <a:blip r:embed="rId4">
            <a:alphaModFix/>
          </a:blip>
          <a:srcRect/>
          <a:stretch/>
        </p:blipFill>
        <p:spPr>
          <a:xfrm>
            <a:off x="581025" y="3239690"/>
            <a:ext cx="2091630" cy="1435893"/>
          </a:xfrm>
          <a:prstGeom prst="rect">
            <a:avLst/>
          </a:prstGeom>
          <a:noFill/>
          <a:ln>
            <a:noFill/>
          </a:ln>
        </p:spPr>
      </p:pic>
      <p:pic>
        <p:nvPicPr>
          <p:cNvPr id="140" name="Google Shape;140;p16" descr="image.png"/>
          <p:cNvPicPr preferRelativeResize="0"/>
          <p:nvPr/>
        </p:nvPicPr>
        <p:blipFill rotWithShape="1">
          <a:blip r:embed="rId5">
            <a:alphaModFix/>
          </a:blip>
          <a:srcRect/>
          <a:stretch/>
        </p:blipFill>
        <p:spPr>
          <a:xfrm>
            <a:off x="2815530" y="3239690"/>
            <a:ext cx="2091630" cy="1435893"/>
          </a:xfrm>
          <a:prstGeom prst="rect">
            <a:avLst/>
          </a:prstGeom>
          <a:noFill/>
          <a:ln>
            <a:noFill/>
          </a:ln>
        </p:spPr>
      </p:pic>
      <p:pic>
        <p:nvPicPr>
          <p:cNvPr id="141" name="Google Shape;141;p16" descr="image.png"/>
          <p:cNvPicPr preferRelativeResize="0"/>
          <p:nvPr/>
        </p:nvPicPr>
        <p:blipFill rotWithShape="1">
          <a:blip r:embed="rId6">
            <a:alphaModFix/>
          </a:blip>
          <a:srcRect/>
          <a:stretch/>
        </p:blipFill>
        <p:spPr>
          <a:xfrm>
            <a:off x="5050035" y="3239690"/>
            <a:ext cx="2091779" cy="1435893"/>
          </a:xfrm>
          <a:prstGeom prst="rect">
            <a:avLst/>
          </a:prstGeom>
          <a:noFill/>
          <a:ln>
            <a:noFill/>
          </a:ln>
        </p:spPr>
      </p:pic>
      <p:pic>
        <p:nvPicPr>
          <p:cNvPr id="142" name="Google Shape;142;p16" descr="image.png"/>
          <p:cNvPicPr preferRelativeResize="0"/>
          <p:nvPr/>
        </p:nvPicPr>
        <p:blipFill rotWithShape="1">
          <a:blip r:embed="rId7">
            <a:alphaModFix/>
          </a:blip>
          <a:srcRect/>
          <a:stretch/>
        </p:blipFill>
        <p:spPr>
          <a:xfrm>
            <a:off x="7284690" y="3239690"/>
            <a:ext cx="2091630" cy="1435893"/>
          </a:xfrm>
          <a:prstGeom prst="rect">
            <a:avLst/>
          </a:prstGeom>
          <a:noFill/>
          <a:ln>
            <a:noFill/>
          </a:ln>
        </p:spPr>
      </p:pic>
      <p:pic>
        <p:nvPicPr>
          <p:cNvPr id="143" name="Google Shape;143;p16" descr="image.png"/>
          <p:cNvPicPr preferRelativeResize="0"/>
          <p:nvPr/>
        </p:nvPicPr>
        <p:blipFill rotWithShape="1">
          <a:blip r:embed="rId8">
            <a:alphaModFix/>
          </a:blip>
          <a:srcRect/>
          <a:stretch/>
        </p:blipFill>
        <p:spPr>
          <a:xfrm>
            <a:off x="9519195" y="3239690"/>
            <a:ext cx="2091779" cy="1435893"/>
          </a:xfrm>
          <a:prstGeom prst="rect">
            <a:avLst/>
          </a:prstGeom>
          <a:noFill/>
          <a:ln>
            <a:noFill/>
          </a:ln>
        </p:spPr>
      </p:pic>
      <p:pic>
        <p:nvPicPr>
          <p:cNvPr id="144" name="Google Shape;144;p16" descr="image.png"/>
          <p:cNvPicPr preferRelativeResize="0"/>
          <p:nvPr/>
        </p:nvPicPr>
        <p:blipFill rotWithShape="1">
          <a:blip r:embed="rId9">
            <a:alphaModFix/>
          </a:blip>
          <a:srcRect/>
          <a:stretch/>
        </p:blipFill>
        <p:spPr>
          <a:xfrm>
            <a:off x="10353675" y="485775"/>
            <a:ext cx="1257300" cy="228600"/>
          </a:xfrm>
          <a:prstGeom prst="rect">
            <a:avLst/>
          </a:prstGeom>
          <a:noFill/>
          <a:ln>
            <a:noFill/>
          </a:ln>
        </p:spPr>
      </p:pic>
      <p:sp>
        <p:nvSpPr>
          <p:cNvPr id="145" name="Google Shape;145;p16"/>
          <p:cNvSpPr/>
          <p:nvPr/>
        </p:nvSpPr>
        <p:spPr>
          <a:xfrm>
            <a:off x="590548" y="3943350"/>
            <a:ext cx="2072582" cy="285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6" name="Google Shape;146;p16" descr="image.png"/>
          <p:cNvPicPr preferRelativeResize="0"/>
          <p:nvPr/>
        </p:nvPicPr>
        <p:blipFill rotWithShape="1">
          <a:blip r:embed="rId10">
            <a:alphaModFix/>
          </a:blip>
          <a:srcRect/>
          <a:stretch/>
        </p:blipFill>
        <p:spPr>
          <a:xfrm>
            <a:off x="781050" y="3439715"/>
            <a:ext cx="476250" cy="171450"/>
          </a:xfrm>
          <a:prstGeom prst="rect">
            <a:avLst/>
          </a:prstGeom>
          <a:noFill/>
          <a:ln>
            <a:noFill/>
          </a:ln>
        </p:spPr>
      </p:pic>
      <p:sp>
        <p:nvSpPr>
          <p:cNvPr id="147" name="Google Shape;147;p16"/>
          <p:cNvSpPr txBox="1"/>
          <p:nvPr/>
        </p:nvSpPr>
        <p:spPr>
          <a:xfrm>
            <a:off x="781050" y="3725465"/>
            <a:ext cx="1776159"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FFFFFF"/>
                </a:solidFill>
                <a:latin typeface="Inter SemiBold"/>
                <a:ea typeface="Inter SemiBold"/>
                <a:cs typeface="Inter SemiBold"/>
                <a:sym typeface="Inter SemiBold"/>
              </a:rPr>
              <a:t>Data Ingestion</a:t>
            </a:r>
            <a:endParaRPr/>
          </a:p>
        </p:txBody>
      </p:sp>
      <p:sp>
        <p:nvSpPr>
          <p:cNvPr id="148" name="Google Shape;148;p16"/>
          <p:cNvSpPr txBox="1"/>
          <p:nvPr/>
        </p:nvSpPr>
        <p:spPr>
          <a:xfrm>
            <a:off x="781050" y="3982640"/>
            <a:ext cx="1691580" cy="4929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862" b="0" i="0" u="none" strike="noStrike" cap="none">
                <a:solidFill>
                  <a:srgbClr val="94A3B8"/>
                </a:solidFill>
                <a:latin typeface="Inter"/>
                <a:ea typeface="Inter"/>
                <a:cs typeface="Inter"/>
                <a:sym typeface="Inter"/>
              </a:rPr>
              <a:t>Imported unstructured purchase datasets using python Pandas framework.</a:t>
            </a:r>
            <a:endParaRPr/>
          </a:p>
        </p:txBody>
      </p:sp>
      <p:sp>
        <p:nvSpPr>
          <p:cNvPr id="149" name="Google Shape;149;p16"/>
          <p:cNvSpPr/>
          <p:nvPr/>
        </p:nvSpPr>
        <p:spPr>
          <a:xfrm>
            <a:off x="2825054" y="3943350"/>
            <a:ext cx="2072582" cy="285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0" name="Google Shape;150;p16" descr="image.png"/>
          <p:cNvPicPr preferRelativeResize="0"/>
          <p:nvPr/>
        </p:nvPicPr>
        <p:blipFill rotWithShape="1">
          <a:blip r:embed="rId11">
            <a:alphaModFix/>
          </a:blip>
          <a:srcRect/>
          <a:stretch/>
        </p:blipFill>
        <p:spPr>
          <a:xfrm>
            <a:off x="3015555" y="3439715"/>
            <a:ext cx="495300" cy="171450"/>
          </a:xfrm>
          <a:prstGeom prst="rect">
            <a:avLst/>
          </a:prstGeom>
          <a:noFill/>
          <a:ln>
            <a:noFill/>
          </a:ln>
        </p:spPr>
      </p:pic>
      <p:sp>
        <p:nvSpPr>
          <p:cNvPr id="151" name="Google Shape;151;p16"/>
          <p:cNvSpPr txBox="1"/>
          <p:nvPr/>
        </p:nvSpPr>
        <p:spPr>
          <a:xfrm>
            <a:off x="3015555" y="3725465"/>
            <a:ext cx="1776159"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FFFFFF"/>
                </a:solidFill>
                <a:latin typeface="Inter SemiBold"/>
                <a:ea typeface="Inter SemiBold"/>
                <a:cs typeface="Inter SemiBold"/>
                <a:sym typeface="Inter SemiBold"/>
              </a:rPr>
              <a:t>Exploration</a:t>
            </a:r>
            <a:endParaRPr/>
          </a:p>
        </p:txBody>
      </p:sp>
      <p:sp>
        <p:nvSpPr>
          <p:cNvPr id="152" name="Google Shape;152;p16"/>
          <p:cNvSpPr txBox="1"/>
          <p:nvPr/>
        </p:nvSpPr>
        <p:spPr>
          <a:xfrm>
            <a:off x="3015555" y="3982640"/>
            <a:ext cx="1691580" cy="4929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862" b="0" i="0" u="none" strike="noStrike" cap="none">
                <a:solidFill>
                  <a:srgbClr val="94A3B8"/>
                </a:solidFill>
                <a:latin typeface="Inter"/>
                <a:ea typeface="Inter"/>
                <a:cs typeface="Inter"/>
                <a:sym typeface="Inter"/>
              </a:rPr>
              <a:t>Derived baseline statistics using descriptive summary and schema structure calls.</a:t>
            </a:r>
            <a:endParaRPr/>
          </a:p>
        </p:txBody>
      </p:sp>
      <p:sp>
        <p:nvSpPr>
          <p:cNvPr id="153" name="Google Shape;153;p16"/>
          <p:cNvSpPr/>
          <p:nvPr/>
        </p:nvSpPr>
        <p:spPr>
          <a:xfrm>
            <a:off x="5059562" y="3943350"/>
            <a:ext cx="2072725" cy="285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4" name="Google Shape;154;p16" descr="image.png"/>
          <p:cNvPicPr preferRelativeResize="0"/>
          <p:nvPr/>
        </p:nvPicPr>
        <p:blipFill rotWithShape="1">
          <a:blip r:embed="rId12">
            <a:alphaModFix/>
          </a:blip>
          <a:srcRect/>
          <a:stretch/>
        </p:blipFill>
        <p:spPr>
          <a:xfrm>
            <a:off x="5250060" y="3439715"/>
            <a:ext cx="504825" cy="171450"/>
          </a:xfrm>
          <a:prstGeom prst="rect">
            <a:avLst/>
          </a:prstGeom>
          <a:noFill/>
          <a:ln>
            <a:noFill/>
          </a:ln>
        </p:spPr>
      </p:pic>
      <p:sp>
        <p:nvSpPr>
          <p:cNvPr id="155" name="Google Shape;155;p16"/>
          <p:cNvSpPr txBox="1"/>
          <p:nvPr/>
        </p:nvSpPr>
        <p:spPr>
          <a:xfrm>
            <a:off x="5250060" y="3725465"/>
            <a:ext cx="1776315"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FFFFFF"/>
                </a:solidFill>
                <a:latin typeface="Inter SemiBold"/>
                <a:ea typeface="Inter SemiBold"/>
                <a:cs typeface="Inter SemiBold"/>
                <a:sym typeface="Inter SemiBold"/>
              </a:rPr>
              <a:t>Imputation</a:t>
            </a:r>
            <a:endParaRPr/>
          </a:p>
        </p:txBody>
      </p:sp>
      <p:sp>
        <p:nvSpPr>
          <p:cNvPr id="156" name="Google Shape;156;p16"/>
          <p:cNvSpPr txBox="1"/>
          <p:nvPr/>
        </p:nvSpPr>
        <p:spPr>
          <a:xfrm>
            <a:off x="5250060" y="3982640"/>
            <a:ext cx="1691729" cy="4929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862" b="0" i="0" u="none" strike="noStrike" cap="none">
                <a:solidFill>
                  <a:srgbClr val="94A3B8"/>
                </a:solidFill>
                <a:latin typeface="Inter"/>
                <a:ea typeface="Inter"/>
                <a:cs typeface="Inter"/>
                <a:sym typeface="Inter"/>
              </a:rPr>
              <a:t>Imputed 37 missing ratings using category median metrics for consistency.</a:t>
            </a:r>
            <a:endParaRPr/>
          </a:p>
        </p:txBody>
      </p:sp>
      <p:sp>
        <p:nvSpPr>
          <p:cNvPr id="157" name="Google Shape;157;p16"/>
          <p:cNvSpPr/>
          <p:nvPr/>
        </p:nvSpPr>
        <p:spPr>
          <a:xfrm>
            <a:off x="7294214" y="3943350"/>
            <a:ext cx="2072582" cy="285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58" name="Google Shape;158;p16" descr="image.png"/>
          <p:cNvPicPr preferRelativeResize="0"/>
          <p:nvPr/>
        </p:nvPicPr>
        <p:blipFill rotWithShape="1">
          <a:blip r:embed="rId13">
            <a:alphaModFix/>
          </a:blip>
          <a:srcRect/>
          <a:stretch/>
        </p:blipFill>
        <p:spPr>
          <a:xfrm>
            <a:off x="7484715" y="3439715"/>
            <a:ext cx="514350" cy="171450"/>
          </a:xfrm>
          <a:prstGeom prst="rect">
            <a:avLst/>
          </a:prstGeom>
          <a:noFill/>
          <a:ln>
            <a:noFill/>
          </a:ln>
        </p:spPr>
      </p:pic>
      <p:sp>
        <p:nvSpPr>
          <p:cNvPr id="159" name="Google Shape;159;p16"/>
          <p:cNvSpPr txBox="1"/>
          <p:nvPr/>
        </p:nvSpPr>
        <p:spPr>
          <a:xfrm>
            <a:off x="7484715" y="3725465"/>
            <a:ext cx="1776159"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FFFFFF"/>
                </a:solidFill>
                <a:latin typeface="Inter SemiBold"/>
                <a:ea typeface="Inter SemiBold"/>
                <a:cs typeface="Inter SemiBold"/>
                <a:sym typeface="Inter SemiBold"/>
              </a:rPr>
              <a:t>Feature Engineering</a:t>
            </a:r>
            <a:endParaRPr/>
          </a:p>
        </p:txBody>
      </p:sp>
      <p:sp>
        <p:nvSpPr>
          <p:cNvPr id="160" name="Google Shape;160;p16"/>
          <p:cNvSpPr txBox="1"/>
          <p:nvPr/>
        </p:nvSpPr>
        <p:spPr>
          <a:xfrm>
            <a:off x="7484715" y="3982640"/>
            <a:ext cx="1691580" cy="4929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862" b="0" i="0" u="none" strike="noStrike" cap="none">
                <a:solidFill>
                  <a:srgbClr val="94A3B8"/>
                </a:solidFill>
                <a:latin typeface="Inter"/>
                <a:ea typeface="Inter"/>
                <a:cs typeface="Inter"/>
                <a:sym typeface="Inter"/>
              </a:rPr>
              <a:t>Constructed customer age cohorts and normalized snake_case formats.</a:t>
            </a:r>
            <a:endParaRPr/>
          </a:p>
        </p:txBody>
      </p:sp>
      <p:sp>
        <p:nvSpPr>
          <p:cNvPr id="161" name="Google Shape;161;p16"/>
          <p:cNvSpPr/>
          <p:nvPr/>
        </p:nvSpPr>
        <p:spPr>
          <a:xfrm>
            <a:off x="9528722" y="3943350"/>
            <a:ext cx="2072725" cy="2857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2" name="Google Shape;162;p16" descr="image.png"/>
          <p:cNvPicPr preferRelativeResize="0"/>
          <p:nvPr/>
        </p:nvPicPr>
        <p:blipFill rotWithShape="1">
          <a:blip r:embed="rId14">
            <a:alphaModFix/>
          </a:blip>
          <a:srcRect/>
          <a:stretch/>
        </p:blipFill>
        <p:spPr>
          <a:xfrm>
            <a:off x="9719220" y="3439715"/>
            <a:ext cx="504825" cy="171450"/>
          </a:xfrm>
          <a:prstGeom prst="rect">
            <a:avLst/>
          </a:prstGeom>
          <a:noFill/>
          <a:ln>
            <a:noFill/>
          </a:ln>
        </p:spPr>
      </p:pic>
      <p:sp>
        <p:nvSpPr>
          <p:cNvPr id="163" name="Google Shape;163;p16"/>
          <p:cNvSpPr txBox="1"/>
          <p:nvPr/>
        </p:nvSpPr>
        <p:spPr>
          <a:xfrm>
            <a:off x="9719220" y="3725465"/>
            <a:ext cx="1776315" cy="1809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25" b="0" i="0" u="none" strike="noStrike" cap="none">
                <a:solidFill>
                  <a:srgbClr val="FFFFFF"/>
                </a:solidFill>
                <a:latin typeface="Inter SemiBold"/>
                <a:ea typeface="Inter SemiBold"/>
                <a:cs typeface="Inter SemiBold"/>
                <a:sym typeface="Inter SemiBold"/>
              </a:rPr>
              <a:t>PostgreSQL Load</a:t>
            </a:r>
            <a:endParaRPr/>
          </a:p>
        </p:txBody>
      </p:sp>
      <p:sp>
        <p:nvSpPr>
          <p:cNvPr id="164" name="Google Shape;164;p16"/>
          <p:cNvSpPr txBox="1"/>
          <p:nvPr/>
        </p:nvSpPr>
        <p:spPr>
          <a:xfrm>
            <a:off x="9719220" y="3982640"/>
            <a:ext cx="1691729" cy="49291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862" b="0" i="0" u="none" strike="noStrike" cap="none">
                <a:solidFill>
                  <a:srgbClr val="94A3B8"/>
                </a:solidFill>
                <a:latin typeface="Inter"/>
                <a:ea typeface="Inter"/>
                <a:cs typeface="Inter"/>
                <a:sym typeface="Inter"/>
              </a:rPr>
              <a:t>Exported structured clean database records into Postgres schema.</a:t>
            </a:r>
            <a:endParaRPr/>
          </a:p>
        </p:txBody>
      </p:sp>
      <p:sp>
        <p:nvSpPr>
          <p:cNvPr id="165" name="Google Shape;165;p16"/>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Relational Pipeline</a:t>
            </a:r>
            <a:endParaRPr/>
          </a:p>
        </p:txBody>
      </p:sp>
      <p:sp>
        <p:nvSpPr>
          <p:cNvPr id="166" name="Google Shape;166;p16"/>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Data </a:t>
            </a:r>
            <a:r>
              <a:rPr lang="en-US" sz="2550" b="0" i="0" u="none" strike="noStrike" cap="none">
                <a:solidFill>
                  <a:srgbClr val="D9A05B"/>
                </a:solidFill>
                <a:latin typeface="Montserrat ExtraBold"/>
                <a:ea typeface="Montserrat ExtraBold"/>
                <a:cs typeface="Montserrat ExtraBold"/>
                <a:sym typeface="Montserrat ExtraBold"/>
              </a:rPr>
              <a:t>Preparation 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0"/>
        <p:cNvGrpSpPr/>
        <p:nvPr/>
      </p:nvGrpSpPr>
      <p:grpSpPr>
        <a:xfrm>
          <a:off x="0" y="0"/>
          <a:ext cx="0" cy="0"/>
          <a:chOff x="0" y="0"/>
          <a:chExt cx="0" cy="0"/>
        </a:xfrm>
      </p:grpSpPr>
      <p:pic>
        <p:nvPicPr>
          <p:cNvPr id="171" name="Google Shape;171;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2" name="Google Shape;172;p17" descr="image.png"/>
          <p:cNvPicPr preferRelativeResize="0"/>
          <p:nvPr/>
        </p:nvPicPr>
        <p:blipFill rotWithShape="1">
          <a:blip r:embed="rId4">
            <a:alphaModFix/>
          </a:blip>
          <a:srcRect/>
          <a:stretch/>
        </p:blipFill>
        <p:spPr>
          <a:xfrm>
            <a:off x="581025" y="2681287"/>
            <a:ext cx="11029950" cy="2552700"/>
          </a:xfrm>
          <a:prstGeom prst="rect">
            <a:avLst/>
          </a:prstGeom>
          <a:noFill/>
          <a:ln>
            <a:noFill/>
          </a:ln>
        </p:spPr>
      </p:pic>
      <p:pic>
        <p:nvPicPr>
          <p:cNvPr id="173" name="Google Shape;173;p17" descr="image.png"/>
          <p:cNvPicPr preferRelativeResize="0"/>
          <p:nvPr/>
        </p:nvPicPr>
        <p:blipFill rotWithShape="1">
          <a:blip r:embed="rId5">
            <a:alphaModFix/>
          </a:blip>
          <a:srcRect/>
          <a:stretch/>
        </p:blipFill>
        <p:spPr>
          <a:xfrm>
            <a:off x="9782175" y="485775"/>
            <a:ext cx="1828800" cy="228600"/>
          </a:xfrm>
          <a:prstGeom prst="rect">
            <a:avLst/>
          </a:prstGeom>
          <a:noFill/>
          <a:ln>
            <a:noFill/>
          </a:ln>
        </p:spPr>
      </p:pic>
      <p:graphicFrame>
        <p:nvGraphicFramePr>
          <p:cNvPr id="174" name="Google Shape;174;p17"/>
          <p:cNvGraphicFramePr/>
          <p:nvPr/>
        </p:nvGraphicFramePr>
        <p:xfrm>
          <a:off x="590550" y="2690812"/>
          <a:ext cx="11010875" cy="2533650"/>
        </p:xfrm>
        <a:graphic>
          <a:graphicData uri="http://schemas.openxmlformats.org/drawingml/2006/table">
            <a:tbl>
              <a:tblPr firstRow="1" bandRow="1">
                <a:noFill/>
                <a:tableStyleId>{FBAA824F-91FB-4E1A-95CA-A68542059179}</a:tableStyleId>
              </a:tblPr>
              <a:tblGrid>
                <a:gridCol w="2155025">
                  <a:extLst>
                    <a:ext uri="{9D8B030D-6E8A-4147-A177-3AD203B41FA5}">
                      <a16:colId xmlns:a16="http://schemas.microsoft.com/office/drawing/2014/main" val="20000"/>
                    </a:ext>
                  </a:extLst>
                </a:gridCol>
                <a:gridCol w="1492750">
                  <a:extLst>
                    <a:ext uri="{9D8B030D-6E8A-4147-A177-3AD203B41FA5}">
                      <a16:colId xmlns:a16="http://schemas.microsoft.com/office/drawing/2014/main" val="20001"/>
                    </a:ext>
                  </a:extLst>
                </a:gridCol>
                <a:gridCol w="1122300">
                  <a:extLst>
                    <a:ext uri="{9D8B030D-6E8A-4147-A177-3AD203B41FA5}">
                      <a16:colId xmlns:a16="http://schemas.microsoft.com/office/drawing/2014/main" val="20002"/>
                    </a:ext>
                  </a:extLst>
                </a:gridCol>
                <a:gridCol w="2435575">
                  <a:extLst>
                    <a:ext uri="{9D8B030D-6E8A-4147-A177-3AD203B41FA5}">
                      <a16:colId xmlns:a16="http://schemas.microsoft.com/office/drawing/2014/main" val="20003"/>
                    </a:ext>
                  </a:extLst>
                </a:gridCol>
                <a:gridCol w="1649900">
                  <a:extLst>
                    <a:ext uri="{9D8B030D-6E8A-4147-A177-3AD203B41FA5}">
                      <a16:colId xmlns:a16="http://schemas.microsoft.com/office/drawing/2014/main" val="20004"/>
                    </a:ext>
                  </a:extLst>
                </a:gridCol>
                <a:gridCol w="2155325">
                  <a:extLst>
                    <a:ext uri="{9D8B030D-6E8A-4147-A177-3AD203B41FA5}">
                      <a16:colId xmlns:a16="http://schemas.microsoft.com/office/drawing/2014/main" val="20005"/>
                    </a:ext>
                  </a:extLst>
                </a:gridCol>
              </a:tblGrid>
              <a:tr h="422275">
                <a:tc>
                  <a:txBody>
                    <a:bodyPr/>
                    <a:lstStyle/>
                    <a:p>
                      <a:pPr marL="0" marR="0" lvl="0" indent="0" algn="l" rtl="0">
                        <a:spcBef>
                          <a:spcPts val="0"/>
                        </a:spcBef>
                        <a:spcAft>
                          <a:spcPts val="0"/>
                        </a:spcAft>
                        <a:buNone/>
                      </a:pPr>
                      <a:r>
                        <a:rPr lang="en-US" sz="825" b="1" i="0" u="none" strike="noStrike" cap="none">
                          <a:solidFill>
                            <a:srgbClr val="14B8A6"/>
                          </a:solidFill>
                          <a:latin typeface="Montserrat"/>
                          <a:ea typeface="Montserrat"/>
                          <a:cs typeface="Montserrat"/>
                          <a:sym typeface="Montserrat"/>
                        </a:rPr>
                        <a:t>Metric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825" b="1" i="0" u="none" strike="noStrike" cap="none">
                          <a:solidFill>
                            <a:srgbClr val="14B8A6"/>
                          </a:solidFill>
                          <a:latin typeface="Montserrat"/>
                          <a:ea typeface="Montserrat"/>
                          <a:cs typeface="Montserrat"/>
                          <a:sym typeface="Montserrat"/>
                        </a:rPr>
                        <a:t>Customer ID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825" b="1" i="0" u="none" strike="noStrike" cap="none">
                          <a:solidFill>
                            <a:srgbClr val="14B8A6"/>
                          </a:solidFill>
                          <a:latin typeface="Montserrat"/>
                          <a:ea typeface="Montserrat"/>
                          <a:cs typeface="Montserrat"/>
                          <a:sym typeface="Montserrat"/>
                        </a:rPr>
                        <a:t>Age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825" b="1" i="0" u="none" strike="noStrike" cap="none">
                          <a:solidFill>
                            <a:srgbClr val="14B8A6"/>
                          </a:solidFill>
                          <a:latin typeface="Montserrat"/>
                          <a:ea typeface="Montserrat"/>
                          <a:cs typeface="Montserrat"/>
                          <a:sym typeface="Montserrat"/>
                        </a:rPr>
                        <a:t>Purchase Amount (USD)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825" b="1" i="0" u="none" strike="noStrike" cap="none">
                          <a:solidFill>
                            <a:srgbClr val="14B8A6"/>
                          </a:solidFill>
                          <a:latin typeface="Montserrat"/>
                          <a:ea typeface="Montserrat"/>
                          <a:cs typeface="Montserrat"/>
                          <a:sym typeface="Montserrat"/>
                        </a:rPr>
                        <a:t>Review Rating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825" b="1" i="0" u="none" strike="noStrike" cap="none">
                          <a:solidFill>
                            <a:srgbClr val="14B8A6"/>
                          </a:solidFill>
                          <a:latin typeface="Montserrat"/>
                          <a:ea typeface="Montserrat"/>
                          <a:cs typeface="Montserrat"/>
                          <a:sym typeface="Montserrat"/>
                        </a:rPr>
                        <a:t>Previous Purchases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422275">
                <a:tc>
                  <a:txBody>
                    <a:bodyPr/>
                    <a:lstStyle/>
                    <a:p>
                      <a:pPr marL="0" marR="0" lvl="0" indent="0" algn="l" rtl="0">
                        <a:spcBef>
                          <a:spcPts val="0"/>
                        </a:spcBef>
                        <a:spcAft>
                          <a:spcPts val="0"/>
                        </a:spcAft>
                        <a:buNone/>
                      </a:pPr>
                      <a:r>
                        <a:rPr lang="en-US" sz="975" b="1" i="0" u="none" strike="noStrike" cap="none">
                          <a:solidFill>
                            <a:srgbClr val="000000"/>
                          </a:solidFill>
                          <a:latin typeface="Inter"/>
                          <a:ea typeface="Inter"/>
                          <a:cs typeface="Inter"/>
                          <a:sym typeface="Inter"/>
                        </a:rPr>
                        <a:t>Mean Metric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1950.50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44.07 Yrs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$59.76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3.75 / 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25.35 purchases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422275">
                <a:tc>
                  <a:txBody>
                    <a:bodyPr/>
                    <a:lstStyle/>
                    <a:p>
                      <a:pPr marL="0" marR="0" lvl="0" indent="0" algn="l" rtl="0">
                        <a:spcBef>
                          <a:spcPts val="0"/>
                        </a:spcBef>
                        <a:spcAft>
                          <a:spcPts val="0"/>
                        </a:spcAft>
                        <a:buNone/>
                      </a:pPr>
                      <a:r>
                        <a:rPr lang="en-US" sz="975" b="1" i="0" u="none" strike="noStrike" cap="none">
                          <a:solidFill>
                            <a:srgbClr val="000000"/>
                          </a:solidFill>
                          <a:latin typeface="Inter"/>
                          <a:ea typeface="Inter"/>
                          <a:cs typeface="Inter"/>
                          <a:sym typeface="Inter"/>
                        </a:rPr>
                        <a:t>Standard Deviation (Std)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1125.98</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15.21 Yrs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$23.69</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0.72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14.45</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422275">
                <a:tc>
                  <a:txBody>
                    <a:bodyPr/>
                    <a:lstStyle/>
                    <a:p>
                      <a:pPr marL="0" marR="0" lvl="0" indent="0" algn="l" rtl="0">
                        <a:spcBef>
                          <a:spcPts val="0"/>
                        </a:spcBef>
                        <a:spcAft>
                          <a:spcPts val="0"/>
                        </a:spcAft>
                        <a:buNone/>
                      </a:pPr>
                      <a:r>
                        <a:rPr lang="en-US" sz="975" b="1" i="0" u="none" strike="noStrike" cap="none">
                          <a:solidFill>
                            <a:srgbClr val="000000"/>
                          </a:solidFill>
                          <a:latin typeface="Inter"/>
                          <a:ea typeface="Inter"/>
                          <a:cs typeface="Inter"/>
                          <a:sym typeface="Inter"/>
                        </a:rPr>
                        <a:t>Minimum value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18.00 Yrs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$20.00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2.50 / 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422275">
                <a:tc>
                  <a:txBody>
                    <a:bodyPr/>
                    <a:lstStyle/>
                    <a:p>
                      <a:pPr marL="0" marR="0" lvl="0" indent="0" algn="l" rtl="0">
                        <a:spcBef>
                          <a:spcPts val="0"/>
                        </a:spcBef>
                        <a:spcAft>
                          <a:spcPts val="0"/>
                        </a:spcAft>
                        <a:buNone/>
                      </a:pPr>
                      <a:r>
                        <a:rPr lang="en-US" sz="975" b="1" i="0" u="none" strike="noStrike" cap="none">
                          <a:solidFill>
                            <a:srgbClr val="000000"/>
                          </a:solidFill>
                          <a:latin typeface="Inter"/>
                          <a:ea typeface="Inter"/>
                          <a:cs typeface="Inter"/>
                          <a:sym typeface="Inter"/>
                        </a:rPr>
                        <a:t>Median value (50%)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1950.50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44.00 Yrs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$60.00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3.80 / 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25.00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422275">
                <a:tc>
                  <a:txBody>
                    <a:bodyPr/>
                    <a:lstStyle/>
                    <a:p>
                      <a:pPr marL="0" marR="0" lvl="0" indent="0" algn="l" rtl="0">
                        <a:spcBef>
                          <a:spcPts val="0"/>
                        </a:spcBef>
                        <a:spcAft>
                          <a:spcPts val="0"/>
                        </a:spcAft>
                        <a:buNone/>
                      </a:pPr>
                      <a:r>
                        <a:rPr lang="en-US" sz="975" b="1" i="0" u="none" strike="noStrike" cap="none" dirty="0">
                          <a:solidFill>
                            <a:srgbClr val="000000"/>
                          </a:solidFill>
                          <a:latin typeface="Inter"/>
                          <a:ea typeface="Inter"/>
                          <a:cs typeface="Inter"/>
                          <a:sym typeface="Inter"/>
                        </a:rPr>
                        <a:t>Maximum value</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3900.00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70.00 Yrs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$100.00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a:solidFill>
                            <a:srgbClr val="000000"/>
                          </a:solidFill>
                          <a:latin typeface="Inter"/>
                          <a:ea typeface="Inter"/>
                          <a:cs typeface="Inter"/>
                          <a:sym typeface="Inter"/>
                        </a:rPr>
                        <a:t>5.00 / 5.0</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975" b="0" i="0" u="none" strike="noStrike" cap="none" dirty="0">
                          <a:solidFill>
                            <a:srgbClr val="000000"/>
                          </a:solidFill>
                          <a:latin typeface="Inter"/>
                          <a:ea typeface="Inter"/>
                          <a:cs typeface="Inter"/>
                          <a:sym typeface="Inter"/>
                        </a:rPr>
                        <a:t>50.00</a:t>
                      </a:r>
                      <a:endParaRPr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75" name="Google Shape;175;p17"/>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Data Science Overview</a:t>
            </a:r>
            <a:endParaRPr/>
          </a:p>
        </p:txBody>
      </p:sp>
      <p:sp>
        <p:nvSpPr>
          <p:cNvPr id="176" name="Google Shape;176;p17"/>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Exploratory </a:t>
            </a:r>
            <a:r>
              <a:rPr lang="en-US" sz="2550" b="0" i="0" u="none" strike="noStrike" cap="none">
                <a:solidFill>
                  <a:srgbClr val="D9A05B"/>
                </a:solidFill>
                <a:latin typeface="Montserrat ExtraBold"/>
                <a:ea typeface="Montserrat ExtraBold"/>
                <a:cs typeface="Montserrat ExtraBold"/>
                <a:sym typeface="Montserrat ExtraBold"/>
              </a:rPr>
              <a:t>Data Analysis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80"/>
        <p:cNvGrpSpPr/>
        <p:nvPr/>
      </p:nvGrpSpPr>
      <p:grpSpPr>
        <a:xfrm>
          <a:off x="0" y="0"/>
          <a:ext cx="0" cy="0"/>
          <a:chOff x="0" y="0"/>
          <a:chExt cx="0" cy="0"/>
        </a:xfrm>
      </p:grpSpPr>
      <p:pic>
        <p:nvPicPr>
          <p:cNvPr id="181" name="Google Shape;181;p18" descr="image.png"/>
          <p:cNvPicPr preferRelativeResize="0"/>
          <p:nvPr/>
        </p:nvPicPr>
        <p:blipFill rotWithShape="1">
          <a:blip r:embed="rId3">
            <a:alphaModFix/>
          </a:blip>
          <a:srcRect/>
          <a:stretch/>
        </p:blipFill>
        <p:spPr>
          <a:xfrm>
            <a:off x="54248" y="-95326"/>
            <a:ext cx="12192000" cy="6858000"/>
          </a:xfrm>
          <a:prstGeom prst="rect">
            <a:avLst/>
          </a:prstGeom>
          <a:noFill/>
          <a:ln>
            <a:noFill/>
          </a:ln>
        </p:spPr>
      </p:pic>
      <p:pic>
        <p:nvPicPr>
          <p:cNvPr id="183" name="Google Shape;183;p18" descr="image.png"/>
          <p:cNvPicPr preferRelativeResize="0"/>
          <p:nvPr/>
        </p:nvPicPr>
        <p:blipFill rotWithShape="1">
          <a:blip r:embed="rId4">
            <a:alphaModFix/>
          </a:blip>
          <a:srcRect/>
          <a:stretch/>
        </p:blipFill>
        <p:spPr>
          <a:xfrm>
            <a:off x="6315074" y="2796480"/>
            <a:ext cx="2566987" cy="1045815"/>
          </a:xfrm>
          <a:prstGeom prst="rect">
            <a:avLst/>
          </a:prstGeom>
          <a:noFill/>
          <a:ln>
            <a:noFill/>
          </a:ln>
        </p:spPr>
      </p:pic>
      <p:pic>
        <p:nvPicPr>
          <p:cNvPr id="184" name="Google Shape;184;p18" descr="image.png"/>
          <p:cNvPicPr preferRelativeResize="0"/>
          <p:nvPr/>
        </p:nvPicPr>
        <p:blipFill rotWithShape="1">
          <a:blip r:embed="rId5">
            <a:alphaModFix/>
          </a:blip>
          <a:srcRect/>
          <a:stretch/>
        </p:blipFill>
        <p:spPr>
          <a:xfrm>
            <a:off x="9043987" y="2810767"/>
            <a:ext cx="2566987" cy="1045815"/>
          </a:xfrm>
          <a:prstGeom prst="rect">
            <a:avLst/>
          </a:prstGeom>
          <a:noFill/>
          <a:ln>
            <a:noFill/>
          </a:ln>
        </p:spPr>
      </p:pic>
      <p:pic>
        <p:nvPicPr>
          <p:cNvPr id="185" name="Google Shape;185;p18" descr="image.png"/>
          <p:cNvPicPr preferRelativeResize="0"/>
          <p:nvPr/>
        </p:nvPicPr>
        <p:blipFill rotWithShape="1">
          <a:blip r:embed="rId6">
            <a:alphaModFix/>
          </a:blip>
          <a:srcRect/>
          <a:stretch/>
        </p:blipFill>
        <p:spPr>
          <a:xfrm>
            <a:off x="10282237" y="485775"/>
            <a:ext cx="1328737" cy="228600"/>
          </a:xfrm>
          <a:prstGeom prst="rect">
            <a:avLst/>
          </a:prstGeom>
          <a:noFill/>
          <a:ln>
            <a:noFill/>
          </a:ln>
        </p:spPr>
      </p:pic>
      <p:sp>
        <p:nvSpPr>
          <p:cNvPr id="186" name="Google Shape;186;p18"/>
          <p:cNvSpPr txBox="1"/>
          <p:nvPr/>
        </p:nvSpPr>
        <p:spPr>
          <a:xfrm>
            <a:off x="6334125" y="4047083"/>
            <a:ext cx="5276850" cy="914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dirty="0">
                <a:solidFill>
                  <a:srgbClr val="94A3B8"/>
                </a:solidFill>
                <a:latin typeface="Inter"/>
                <a:ea typeface="Inter"/>
                <a:cs typeface="Inter"/>
                <a:sym typeface="Inter"/>
              </a:rPr>
              <a:t>Male shoppers generate significantly higher total revenue, accounting for over two-thirds of total transactions. However, average transaction sizes remain consistent, presenting an expansion opportunity for female demographic segments.</a:t>
            </a:r>
            <a:endParaRPr dirty="0"/>
          </a:p>
        </p:txBody>
      </p:sp>
      <p:sp>
        <p:nvSpPr>
          <p:cNvPr id="187" name="Google Shape;187;p18"/>
          <p:cNvSpPr/>
          <p:nvPr/>
        </p:nvSpPr>
        <p:spPr>
          <a:xfrm>
            <a:off x="8131968" y="2780779"/>
            <a:ext cx="38100" cy="1026766"/>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8" name="Google Shape;188;p18"/>
          <p:cNvSpPr txBox="1"/>
          <p:nvPr/>
        </p:nvSpPr>
        <p:spPr>
          <a:xfrm>
            <a:off x="6591300" y="2963169"/>
            <a:ext cx="2052637"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dirty="0">
                <a:solidFill>
                  <a:srgbClr val="FFFFFF"/>
                </a:solidFill>
                <a:latin typeface="Montserrat ExtraBold"/>
                <a:ea typeface="Montserrat ExtraBold"/>
                <a:cs typeface="Montserrat ExtraBold"/>
                <a:sym typeface="Montserrat ExtraBold"/>
              </a:rPr>
              <a:t>$157K</a:t>
            </a:r>
            <a:endParaRPr dirty="0"/>
          </a:p>
        </p:txBody>
      </p:sp>
      <p:sp>
        <p:nvSpPr>
          <p:cNvPr id="189" name="Google Shape;189;p18"/>
          <p:cNvSpPr txBox="1"/>
          <p:nvPr/>
        </p:nvSpPr>
        <p:spPr>
          <a:xfrm>
            <a:off x="6591300" y="3504158"/>
            <a:ext cx="2052637"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dirty="0">
                <a:solidFill>
                  <a:srgbClr val="94A3B8"/>
                </a:solidFill>
                <a:latin typeface="Inter SemiBold"/>
                <a:ea typeface="Inter SemiBold"/>
                <a:cs typeface="Inter SemiBold"/>
                <a:sym typeface="Inter SemiBold"/>
              </a:rPr>
              <a:t>MALE SPENDS</a:t>
            </a:r>
            <a:endParaRPr dirty="0"/>
          </a:p>
        </p:txBody>
      </p:sp>
      <p:sp>
        <p:nvSpPr>
          <p:cNvPr id="190" name="Google Shape;190;p18"/>
          <p:cNvSpPr/>
          <p:nvPr/>
        </p:nvSpPr>
        <p:spPr>
          <a:xfrm>
            <a:off x="10835877" y="2810767"/>
            <a:ext cx="38100" cy="1026766"/>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91" name="Google Shape;191;p18"/>
          <p:cNvSpPr txBox="1"/>
          <p:nvPr/>
        </p:nvSpPr>
        <p:spPr>
          <a:xfrm>
            <a:off x="9301162" y="3029842"/>
            <a:ext cx="2052637"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$75K</a:t>
            </a:r>
            <a:endParaRPr/>
          </a:p>
        </p:txBody>
      </p:sp>
      <p:sp>
        <p:nvSpPr>
          <p:cNvPr id="192" name="Google Shape;192;p18"/>
          <p:cNvSpPr txBox="1"/>
          <p:nvPr/>
        </p:nvSpPr>
        <p:spPr>
          <a:xfrm>
            <a:off x="9301162" y="3504158"/>
            <a:ext cx="2052637"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FEMALE SPENDS</a:t>
            </a:r>
            <a:endParaRPr/>
          </a:p>
        </p:txBody>
      </p:sp>
      <p:sp>
        <p:nvSpPr>
          <p:cNvPr id="193" name="Google Shape;193;p18"/>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Gender Contribution</a:t>
            </a:r>
            <a:endParaRPr/>
          </a:p>
        </p:txBody>
      </p:sp>
      <p:sp>
        <p:nvSpPr>
          <p:cNvPr id="194" name="Google Shape;194;p18"/>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Revenue by </a:t>
            </a:r>
            <a:r>
              <a:rPr lang="en-US" sz="2550" b="0" i="0" u="none" strike="noStrike" cap="none">
                <a:solidFill>
                  <a:srgbClr val="D9A05B"/>
                </a:solidFill>
                <a:latin typeface="Montserrat ExtraBold"/>
                <a:ea typeface="Montserrat ExtraBold"/>
                <a:cs typeface="Montserrat ExtraBold"/>
                <a:sym typeface="Montserrat ExtraBold"/>
              </a:rPr>
              <a:t>Gender Analysis</a:t>
            </a:r>
            <a:endParaRPr/>
          </a:p>
        </p:txBody>
      </p:sp>
      <p:pic>
        <p:nvPicPr>
          <p:cNvPr id="2" name="Image 0" descr="preencoded.png">
            <a:extLst>
              <a:ext uri="{FF2B5EF4-FFF2-40B4-BE49-F238E27FC236}">
                <a16:creationId xmlns:a16="http://schemas.microsoft.com/office/drawing/2014/main" id="{9008E974-5794-AB5F-9052-5B1271FC1F23}"/>
              </a:ext>
            </a:extLst>
          </p:cNvPr>
          <p:cNvPicPr>
            <a:picLocks noChangeAspect="1"/>
          </p:cNvPicPr>
          <p:nvPr/>
        </p:nvPicPr>
        <p:blipFill>
          <a:blip r:embed="rId7"/>
          <a:stretch>
            <a:fillRect/>
          </a:stretch>
        </p:blipFill>
        <p:spPr>
          <a:xfrm>
            <a:off x="-404261" y="2209800"/>
            <a:ext cx="6515738" cy="3430604"/>
          </a:xfrm>
          <a:prstGeom prst="rect">
            <a:avLst/>
          </a:prstGeom>
        </p:spPr>
      </p:pic>
      <p:sp>
        <p:nvSpPr>
          <p:cNvPr id="3" name="Shape 1">
            <a:extLst>
              <a:ext uri="{FF2B5EF4-FFF2-40B4-BE49-F238E27FC236}">
                <a16:creationId xmlns:a16="http://schemas.microsoft.com/office/drawing/2014/main" id="{691BA5CE-7538-9BAC-1BE2-1240D63B0584}"/>
              </a:ext>
            </a:extLst>
          </p:cNvPr>
          <p:cNvSpPr/>
          <p:nvPr/>
        </p:nvSpPr>
        <p:spPr>
          <a:xfrm>
            <a:off x="1769969" y="6073317"/>
            <a:ext cx="226814" cy="226814"/>
          </a:xfrm>
          <a:prstGeom prst="roundRect">
            <a:avLst>
              <a:gd name="adj" fmla="val 8063"/>
            </a:avLst>
          </a:prstGeom>
          <a:solidFill>
            <a:srgbClr val="40320C"/>
          </a:solidFill>
          <a:ln/>
        </p:spPr>
        <p:txBody>
          <a:bodyPr/>
          <a:lstStyle/>
          <a:p>
            <a:endParaRPr lang="en-US"/>
          </a:p>
        </p:txBody>
      </p:sp>
      <p:sp>
        <p:nvSpPr>
          <p:cNvPr id="4" name="Shape 3">
            <a:extLst>
              <a:ext uri="{FF2B5EF4-FFF2-40B4-BE49-F238E27FC236}">
                <a16:creationId xmlns:a16="http://schemas.microsoft.com/office/drawing/2014/main" id="{624DF414-7C4D-6ECF-E203-02F3CF8D9FFD}"/>
              </a:ext>
            </a:extLst>
          </p:cNvPr>
          <p:cNvSpPr/>
          <p:nvPr/>
        </p:nvSpPr>
        <p:spPr>
          <a:xfrm>
            <a:off x="3261368" y="6073317"/>
            <a:ext cx="226814" cy="226814"/>
          </a:xfrm>
          <a:prstGeom prst="roundRect">
            <a:avLst>
              <a:gd name="adj" fmla="val 8063"/>
            </a:avLst>
          </a:prstGeom>
          <a:solidFill>
            <a:srgbClr val="CC9D27"/>
          </a:solidFill>
          <a:ln/>
        </p:spPr>
      </p:sp>
      <p:sp>
        <p:nvSpPr>
          <p:cNvPr id="8" name="TextBox 7">
            <a:extLst>
              <a:ext uri="{FF2B5EF4-FFF2-40B4-BE49-F238E27FC236}">
                <a16:creationId xmlns:a16="http://schemas.microsoft.com/office/drawing/2014/main" id="{E6E36032-49BA-1481-A45A-713B307288D2}"/>
              </a:ext>
            </a:extLst>
          </p:cNvPr>
          <p:cNvSpPr txBox="1"/>
          <p:nvPr/>
        </p:nvSpPr>
        <p:spPr>
          <a:xfrm>
            <a:off x="3546333" y="5985449"/>
            <a:ext cx="6302828" cy="369332"/>
          </a:xfrm>
          <a:prstGeom prst="rect">
            <a:avLst/>
          </a:prstGeom>
          <a:noFill/>
        </p:spPr>
        <p:txBody>
          <a:bodyPr wrap="square">
            <a:spAutoFit/>
          </a:bodyPr>
          <a:lstStyle/>
          <a:p>
            <a:r>
              <a:rPr lang="en-US" sz="1800" dirty="0">
                <a:solidFill>
                  <a:srgbClr val="FFC000"/>
                </a:solidFill>
                <a:latin typeface="DM Sans" pitchFamily="34" charset="0"/>
                <a:ea typeface="DM Sans" pitchFamily="34" charset="-122"/>
                <a:cs typeface="DM Sans" pitchFamily="34" charset="-120"/>
              </a:rPr>
              <a:t>Male</a:t>
            </a:r>
            <a:endParaRPr lang="en-US" sz="1800" dirty="0">
              <a:solidFill>
                <a:srgbClr val="FFC000"/>
              </a:solidFill>
            </a:endParaRPr>
          </a:p>
        </p:txBody>
      </p:sp>
      <p:sp>
        <p:nvSpPr>
          <p:cNvPr id="10" name="TextBox 9">
            <a:extLst>
              <a:ext uri="{FF2B5EF4-FFF2-40B4-BE49-F238E27FC236}">
                <a16:creationId xmlns:a16="http://schemas.microsoft.com/office/drawing/2014/main" id="{AC01C9FD-08B9-527B-0A68-CDF70D3D1C49}"/>
              </a:ext>
            </a:extLst>
          </p:cNvPr>
          <p:cNvSpPr txBox="1"/>
          <p:nvPr/>
        </p:nvSpPr>
        <p:spPr>
          <a:xfrm>
            <a:off x="2054934" y="5985449"/>
            <a:ext cx="6384470" cy="369332"/>
          </a:xfrm>
          <a:prstGeom prst="rect">
            <a:avLst/>
          </a:prstGeom>
          <a:noFill/>
        </p:spPr>
        <p:txBody>
          <a:bodyPr wrap="square">
            <a:spAutoFit/>
          </a:bodyPr>
          <a:lstStyle/>
          <a:p>
            <a:r>
              <a:rPr lang="en-US" sz="1800" dirty="0">
                <a:solidFill>
                  <a:schemeClr val="bg2">
                    <a:lumMod val="40000"/>
                    <a:lumOff val="60000"/>
                  </a:schemeClr>
                </a:solidFill>
                <a:latin typeface="DM Sans" pitchFamily="34" charset="0"/>
              </a:rPr>
              <a:t>Female</a:t>
            </a:r>
            <a:endParaRPr lang="en-US" sz="1800" dirty="0">
              <a:solidFill>
                <a:schemeClr val="bg2">
                  <a:lumMod val="40000"/>
                  <a:lumOff val="6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8"/>
        <p:cNvGrpSpPr/>
        <p:nvPr/>
      </p:nvGrpSpPr>
      <p:grpSpPr>
        <a:xfrm>
          <a:off x="0" y="0"/>
          <a:ext cx="0" cy="0"/>
          <a:chOff x="0" y="0"/>
          <a:chExt cx="0" cy="0"/>
        </a:xfrm>
      </p:grpSpPr>
      <p:pic>
        <p:nvPicPr>
          <p:cNvPr id="199" name="Google Shape;199;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0" name="Google Shape;200;p19" descr="image.png"/>
          <p:cNvPicPr preferRelativeResize="0"/>
          <p:nvPr/>
        </p:nvPicPr>
        <p:blipFill rotWithShape="1">
          <a:blip r:embed="rId4">
            <a:alphaModFix/>
          </a:blip>
          <a:srcRect/>
          <a:stretch/>
        </p:blipFill>
        <p:spPr>
          <a:xfrm>
            <a:off x="1626840" y="3095625"/>
            <a:ext cx="3137445" cy="523875"/>
          </a:xfrm>
          <a:prstGeom prst="rect">
            <a:avLst/>
          </a:prstGeom>
          <a:noFill/>
          <a:ln>
            <a:noFill/>
          </a:ln>
        </p:spPr>
      </p:pic>
      <p:pic>
        <p:nvPicPr>
          <p:cNvPr id="201" name="Google Shape;201;p19" descr="image.png"/>
          <p:cNvPicPr preferRelativeResize="0"/>
          <p:nvPr/>
        </p:nvPicPr>
        <p:blipFill rotWithShape="1">
          <a:blip r:embed="rId5">
            <a:alphaModFix/>
          </a:blip>
          <a:srcRect/>
          <a:stretch/>
        </p:blipFill>
        <p:spPr>
          <a:xfrm>
            <a:off x="1104007" y="3695700"/>
            <a:ext cx="4183260" cy="523875"/>
          </a:xfrm>
          <a:prstGeom prst="rect">
            <a:avLst/>
          </a:prstGeom>
          <a:noFill/>
          <a:ln>
            <a:noFill/>
          </a:ln>
        </p:spPr>
      </p:pic>
      <p:pic>
        <p:nvPicPr>
          <p:cNvPr id="202" name="Google Shape;202;p19" descr="image.png"/>
          <p:cNvPicPr preferRelativeResize="0"/>
          <p:nvPr/>
        </p:nvPicPr>
        <p:blipFill rotWithShape="1">
          <a:blip r:embed="rId6">
            <a:alphaModFix/>
          </a:blip>
          <a:srcRect/>
          <a:stretch/>
        </p:blipFill>
        <p:spPr>
          <a:xfrm>
            <a:off x="581025" y="4295775"/>
            <a:ext cx="5229225" cy="523875"/>
          </a:xfrm>
          <a:prstGeom prst="rect">
            <a:avLst/>
          </a:prstGeom>
          <a:noFill/>
          <a:ln>
            <a:noFill/>
          </a:ln>
        </p:spPr>
      </p:pic>
      <p:pic>
        <p:nvPicPr>
          <p:cNvPr id="203" name="Google Shape;203;p19" descr="image.png"/>
          <p:cNvPicPr preferRelativeResize="0"/>
          <p:nvPr/>
        </p:nvPicPr>
        <p:blipFill rotWithShape="1">
          <a:blip r:embed="rId7">
            <a:alphaModFix/>
          </a:blip>
          <a:srcRect/>
          <a:stretch/>
        </p:blipFill>
        <p:spPr>
          <a:xfrm>
            <a:off x="6371747" y="4388940"/>
            <a:ext cx="5229225" cy="457200"/>
          </a:xfrm>
          <a:prstGeom prst="rect">
            <a:avLst/>
          </a:prstGeom>
          <a:noFill/>
          <a:ln>
            <a:noFill/>
          </a:ln>
        </p:spPr>
      </p:pic>
      <p:pic>
        <p:nvPicPr>
          <p:cNvPr id="204" name="Google Shape;204;p19" descr="image.png"/>
          <p:cNvPicPr preferRelativeResize="0"/>
          <p:nvPr/>
        </p:nvPicPr>
        <p:blipFill rotWithShape="1">
          <a:blip r:embed="rId8">
            <a:alphaModFix/>
          </a:blip>
          <a:srcRect/>
          <a:stretch/>
        </p:blipFill>
        <p:spPr>
          <a:xfrm>
            <a:off x="10401300" y="485775"/>
            <a:ext cx="1209675" cy="228600"/>
          </a:xfrm>
          <a:prstGeom prst="rect">
            <a:avLst/>
          </a:prstGeom>
          <a:noFill/>
          <a:ln>
            <a:noFill/>
          </a:ln>
        </p:spPr>
      </p:pic>
      <p:sp>
        <p:nvSpPr>
          <p:cNvPr id="205" name="Google Shape;205;p19"/>
          <p:cNvSpPr txBox="1"/>
          <p:nvPr/>
        </p:nvSpPr>
        <p:spPr>
          <a:xfrm>
            <a:off x="6371748" y="2361813"/>
            <a:ext cx="522922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FFFFFF"/>
                </a:solidFill>
                <a:latin typeface="Montserrat"/>
                <a:ea typeface="Montserrat"/>
                <a:cs typeface="Montserrat"/>
                <a:sym typeface="Montserrat"/>
              </a:rPr>
              <a:t>Cohort</a:t>
            </a:r>
            <a:r>
              <a:rPr lang="en-US" sz="1350" b="1" i="0" u="none" strike="noStrike" cap="none" dirty="0">
                <a:solidFill>
                  <a:srgbClr val="FFFFFF"/>
                </a:solidFill>
                <a:latin typeface="Montserrat"/>
                <a:ea typeface="Montserrat"/>
                <a:cs typeface="Montserrat"/>
                <a:sym typeface="Montserrat"/>
              </a:rPr>
              <a:t> </a:t>
            </a:r>
            <a:r>
              <a:rPr lang="en-US" sz="1600" b="1" i="0" u="none" strike="noStrike" cap="none" dirty="0">
                <a:solidFill>
                  <a:srgbClr val="FFFFFF"/>
                </a:solidFill>
                <a:latin typeface="Montserrat"/>
                <a:ea typeface="Montserrat"/>
                <a:cs typeface="Montserrat"/>
                <a:sym typeface="Montserrat"/>
              </a:rPr>
              <a:t>Retention Focus</a:t>
            </a:r>
            <a:endParaRPr sz="1600" dirty="0"/>
          </a:p>
        </p:txBody>
      </p:sp>
      <p:sp>
        <p:nvSpPr>
          <p:cNvPr id="206" name="Google Shape;206;p19"/>
          <p:cNvSpPr txBox="1"/>
          <p:nvPr/>
        </p:nvSpPr>
        <p:spPr>
          <a:xfrm>
            <a:off x="6290734" y="2719775"/>
            <a:ext cx="5320242" cy="879984"/>
          </a:xfrm>
          <a:prstGeom prst="rect">
            <a:avLst/>
          </a:prstGeom>
          <a:noFill/>
          <a:ln>
            <a:noFill/>
          </a:ln>
        </p:spPr>
        <p:txBody>
          <a:bodyPr spcFirstLastPara="1" wrap="square" lIns="0" tIns="0" rIns="0" bIns="0" anchor="t" anchorCtr="0">
            <a:spAutoFit/>
          </a:bodyPr>
          <a:lstStyle/>
          <a:p>
            <a:pPr marL="0" marR="0" lvl="0" indent="0" algn="l" rtl="0">
              <a:lnSpc>
                <a:spcPct val="159981"/>
              </a:lnSpc>
              <a:spcBef>
                <a:spcPts val="0"/>
              </a:spcBef>
              <a:spcAft>
                <a:spcPts val="0"/>
              </a:spcAft>
              <a:buNone/>
            </a:pPr>
            <a:r>
              <a:rPr lang="en-US" sz="1087" b="0" i="0" u="none" strike="noStrike" cap="none" dirty="0">
                <a:solidFill>
                  <a:srgbClr val="94A3B8"/>
                </a:solidFill>
                <a:latin typeface="Inter"/>
                <a:ea typeface="Inter"/>
                <a:cs typeface="Inter"/>
                <a:sym typeface="Inter"/>
              </a:rPr>
              <a:t>The dataset is </a:t>
            </a:r>
            <a:r>
              <a:rPr lang="en-US" b="0" i="0" u="none" strike="noStrike" cap="none" dirty="0">
                <a:solidFill>
                  <a:srgbClr val="94A3B8"/>
                </a:solidFill>
                <a:latin typeface="Inter"/>
                <a:ea typeface="Inter"/>
                <a:cs typeface="Inter"/>
                <a:sym typeface="Inter"/>
              </a:rPr>
              <a:t>highly</a:t>
            </a:r>
            <a:r>
              <a:rPr lang="en-US" sz="1087" b="0" i="0" u="none" strike="noStrike" cap="none" dirty="0">
                <a:solidFill>
                  <a:srgbClr val="94A3B8"/>
                </a:solidFill>
                <a:latin typeface="Inter"/>
                <a:ea typeface="Inter"/>
                <a:cs typeface="Inter"/>
                <a:sym typeface="Inter"/>
              </a:rPr>
              <a:t> concentrated with a reliable base of 3,116 loyal buyers. This highlights a clear strategic mandate: design high-impact onboarding pipelines to convert first-time buyers into loyal repeat purchasers.</a:t>
            </a:r>
            <a:endParaRPr dirty="0"/>
          </a:p>
        </p:txBody>
      </p:sp>
      <p:sp>
        <p:nvSpPr>
          <p:cNvPr id="207" name="Google Shape;207;p19"/>
          <p:cNvSpPr txBox="1"/>
          <p:nvPr/>
        </p:nvSpPr>
        <p:spPr>
          <a:xfrm>
            <a:off x="6581775" y="4469903"/>
            <a:ext cx="4829175" cy="152400"/>
          </a:xfrm>
          <a:prstGeom prst="rect">
            <a:avLst/>
          </a:prstGeom>
          <a:noFill/>
          <a:ln>
            <a:noFill/>
          </a:ln>
        </p:spPr>
        <p:txBody>
          <a:bodyPr spcFirstLastPara="1" wrap="square" lIns="228600" tIns="0" rIns="0" bIns="0" anchor="t" anchorCtr="0">
            <a:spAutoFit/>
          </a:bodyPr>
          <a:lstStyle/>
          <a:p>
            <a:pPr marL="0" marR="0" lvl="0" indent="0" algn="l" rtl="0">
              <a:spcBef>
                <a:spcPts val="0"/>
              </a:spcBef>
              <a:spcAft>
                <a:spcPts val="0"/>
              </a:spcAft>
              <a:buNone/>
            </a:pPr>
            <a:r>
              <a:rPr lang="en-US" sz="1012" b="0" i="0" u="none" strike="noStrike" cap="none" dirty="0">
                <a:solidFill>
                  <a:srgbClr val="FFFFFF"/>
                </a:solidFill>
                <a:latin typeface="Inter SemiBold"/>
                <a:ea typeface="Inter SemiBold"/>
                <a:cs typeface="Inter SemiBold"/>
                <a:sym typeface="Inter SemiBold"/>
              </a:rPr>
              <a:t>Strategic Goal: Convert New to Returning, and Returning to Loyal.</a:t>
            </a:r>
            <a:endParaRPr dirty="0"/>
          </a:p>
        </p:txBody>
      </p:sp>
      <p:pic>
        <p:nvPicPr>
          <p:cNvPr id="208" name="Google Shape;208;p19" descr="image.png"/>
          <p:cNvPicPr preferRelativeResize="0"/>
          <p:nvPr/>
        </p:nvPicPr>
        <p:blipFill rotWithShape="1">
          <a:blip r:embed="rId9">
            <a:alphaModFix/>
          </a:blip>
          <a:srcRect/>
          <a:stretch/>
        </p:blipFill>
        <p:spPr>
          <a:xfrm>
            <a:off x="6581775" y="4488953"/>
            <a:ext cx="133350" cy="128587"/>
          </a:xfrm>
          <a:prstGeom prst="rect">
            <a:avLst/>
          </a:prstGeom>
          <a:noFill/>
          <a:ln>
            <a:noFill/>
          </a:ln>
        </p:spPr>
      </p:pic>
      <p:sp>
        <p:nvSpPr>
          <p:cNvPr id="209" name="Google Shape;209;p19"/>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Cohort Classifications</a:t>
            </a:r>
            <a:endParaRPr/>
          </a:p>
        </p:txBody>
      </p:sp>
      <p:sp>
        <p:nvSpPr>
          <p:cNvPr id="210" name="Google Shape;210;p19"/>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Customer </a:t>
            </a:r>
            <a:r>
              <a:rPr lang="en-US" sz="2550" b="0" i="0" u="none" strike="noStrike" cap="none">
                <a:solidFill>
                  <a:srgbClr val="D9A05B"/>
                </a:solidFill>
                <a:latin typeface="Montserrat ExtraBold"/>
                <a:ea typeface="Montserrat ExtraBold"/>
                <a:cs typeface="Montserrat ExtraBold"/>
                <a:sym typeface="Montserrat ExtraBold"/>
              </a:rPr>
              <a:t>Segmentation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4"/>
        <p:cNvGrpSpPr/>
        <p:nvPr/>
      </p:nvGrpSpPr>
      <p:grpSpPr>
        <a:xfrm>
          <a:off x="0" y="0"/>
          <a:ext cx="0" cy="0"/>
          <a:chOff x="0" y="0"/>
          <a:chExt cx="0" cy="0"/>
        </a:xfrm>
      </p:grpSpPr>
      <p:pic>
        <p:nvPicPr>
          <p:cNvPr id="215" name="Google Shape;215;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6" name="Google Shape;216;p20" descr="image.png"/>
          <p:cNvPicPr preferRelativeResize="0"/>
          <p:nvPr/>
        </p:nvPicPr>
        <p:blipFill rotWithShape="1">
          <a:blip r:embed="rId4">
            <a:alphaModFix/>
          </a:blip>
          <a:srcRect/>
          <a:stretch/>
        </p:blipFill>
        <p:spPr>
          <a:xfrm>
            <a:off x="581025" y="3117502"/>
            <a:ext cx="5276850" cy="1680120"/>
          </a:xfrm>
          <a:prstGeom prst="rect">
            <a:avLst/>
          </a:prstGeom>
          <a:noFill/>
          <a:ln>
            <a:noFill/>
          </a:ln>
        </p:spPr>
      </p:pic>
      <p:pic>
        <p:nvPicPr>
          <p:cNvPr id="217" name="Google Shape;217;p20" descr="image.png"/>
          <p:cNvPicPr preferRelativeResize="0"/>
          <p:nvPr/>
        </p:nvPicPr>
        <p:blipFill rotWithShape="1">
          <a:blip r:embed="rId5">
            <a:alphaModFix/>
          </a:blip>
          <a:srcRect/>
          <a:stretch/>
        </p:blipFill>
        <p:spPr>
          <a:xfrm>
            <a:off x="10206037" y="485775"/>
            <a:ext cx="1404937" cy="228600"/>
          </a:xfrm>
          <a:prstGeom prst="rect">
            <a:avLst/>
          </a:prstGeom>
          <a:noFill/>
          <a:ln>
            <a:noFill/>
          </a:ln>
        </p:spPr>
      </p:pic>
      <p:sp>
        <p:nvSpPr>
          <p:cNvPr id="218" name="Google Shape;218;p20"/>
          <p:cNvSpPr txBox="1"/>
          <p:nvPr/>
        </p:nvSpPr>
        <p:spPr>
          <a:xfrm>
            <a:off x="6334125" y="3187154"/>
            <a:ext cx="5540692"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4B8A6"/>
                </a:solidFill>
                <a:latin typeface="Montserrat"/>
                <a:ea typeface="Montserrat"/>
                <a:cs typeface="Montserrat"/>
                <a:sym typeface="Montserrat"/>
              </a:rPr>
              <a:t>Strategic Promotion Opportunities</a:t>
            </a:r>
            <a:endParaRPr/>
          </a:p>
        </p:txBody>
      </p:sp>
      <p:sp>
        <p:nvSpPr>
          <p:cNvPr id="219" name="Google Shape;219;p20"/>
          <p:cNvSpPr txBox="1"/>
          <p:nvPr/>
        </p:nvSpPr>
        <p:spPr>
          <a:xfrm>
            <a:off x="6334125" y="3558629"/>
            <a:ext cx="5276850" cy="441721"/>
          </a:xfrm>
          <a:prstGeom prst="rect">
            <a:avLst/>
          </a:prstGeom>
          <a:noFill/>
          <a:ln>
            <a:noFill/>
          </a:ln>
        </p:spPr>
        <p:txBody>
          <a:bodyPr spcFirstLastPara="1" wrap="square" lIns="0" tIns="0" rIns="0" bIns="0" anchor="t" anchorCtr="0">
            <a:spAutoFit/>
          </a:bodyPr>
          <a:lstStyle/>
          <a:p>
            <a:pPr marL="0" marR="0" lvl="0" indent="0" algn="l" rtl="0">
              <a:lnSpc>
                <a:spcPct val="159981"/>
              </a:lnSpc>
              <a:spcBef>
                <a:spcPts val="0"/>
              </a:spcBef>
              <a:spcAft>
                <a:spcPts val="0"/>
              </a:spcAft>
              <a:buNone/>
            </a:pPr>
            <a:r>
              <a:rPr lang="en-US" sz="1087" b="0" i="0" u="none" strike="noStrike" cap="none">
                <a:solidFill>
                  <a:srgbClr val="94A3B8"/>
                </a:solidFill>
                <a:latin typeface="Inter"/>
                <a:ea typeface="Inter"/>
                <a:cs typeface="Inter"/>
                <a:sym typeface="Inter"/>
              </a:rPr>
              <a:t>Our database identifies 839 high-value shoppers who actively apply discount coupons but consistently maintain above-average transaction values ($59.76).</a:t>
            </a:r>
            <a:endParaRPr/>
          </a:p>
        </p:txBody>
      </p:sp>
      <p:sp>
        <p:nvSpPr>
          <p:cNvPr id="220" name="Google Shape;220;p20"/>
          <p:cNvSpPr txBox="1"/>
          <p:nvPr/>
        </p:nvSpPr>
        <p:spPr>
          <a:xfrm>
            <a:off x="6334125" y="4143226"/>
            <a:ext cx="5276850" cy="441721"/>
          </a:xfrm>
          <a:prstGeom prst="rect">
            <a:avLst/>
          </a:prstGeom>
          <a:noFill/>
          <a:ln>
            <a:noFill/>
          </a:ln>
        </p:spPr>
        <p:txBody>
          <a:bodyPr spcFirstLastPara="1" wrap="square" lIns="0" tIns="0" rIns="0" bIns="0" anchor="t" anchorCtr="0">
            <a:spAutoFit/>
          </a:bodyPr>
          <a:lstStyle/>
          <a:p>
            <a:pPr marL="0" marR="0" lvl="0" indent="0" algn="l" rtl="0">
              <a:lnSpc>
                <a:spcPct val="159981"/>
              </a:lnSpc>
              <a:spcBef>
                <a:spcPts val="0"/>
              </a:spcBef>
              <a:spcAft>
                <a:spcPts val="0"/>
              </a:spcAft>
              <a:buNone/>
            </a:pPr>
            <a:r>
              <a:rPr lang="en-US" sz="1087" b="0" i="0" u="none" strike="noStrike" cap="none">
                <a:solidFill>
                  <a:srgbClr val="94A3B8"/>
                </a:solidFill>
                <a:latin typeface="Inter"/>
                <a:ea typeface="Inter"/>
                <a:cs typeface="Inter"/>
                <a:sym typeface="Inter"/>
              </a:rPr>
              <a:t>Rather than offering generic price markdowns that erode margins, incentivize this cohort using exclusive premium benefits and checkout loyalty rewards.</a:t>
            </a:r>
            <a:endParaRPr/>
          </a:p>
        </p:txBody>
      </p:sp>
      <p:sp>
        <p:nvSpPr>
          <p:cNvPr id="221" name="Google Shape;221;p20"/>
          <p:cNvSpPr/>
          <p:nvPr/>
        </p:nvSpPr>
        <p:spPr>
          <a:xfrm flipH="1">
            <a:off x="4047066" y="3117502"/>
            <a:ext cx="1810807" cy="1670597"/>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2" name="Google Shape;222;p20"/>
          <p:cNvSpPr txBox="1"/>
          <p:nvPr/>
        </p:nvSpPr>
        <p:spPr>
          <a:xfrm>
            <a:off x="876300" y="3412777"/>
            <a:ext cx="4686300" cy="6704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4800" b="0" i="0" u="none" strike="noStrike" cap="none" dirty="0">
                <a:solidFill>
                  <a:srgbClr val="FFFFFF"/>
                </a:solidFill>
                <a:latin typeface="Montserrat ExtraBold"/>
                <a:ea typeface="Montserrat ExtraBold"/>
                <a:cs typeface="Montserrat ExtraBold"/>
                <a:sym typeface="Montserrat ExtraBold"/>
              </a:rPr>
              <a:t>839</a:t>
            </a:r>
            <a:endParaRPr dirty="0"/>
          </a:p>
        </p:txBody>
      </p:sp>
      <p:sp>
        <p:nvSpPr>
          <p:cNvPr id="223" name="Google Shape;223;p20"/>
          <p:cNvSpPr txBox="1"/>
          <p:nvPr/>
        </p:nvSpPr>
        <p:spPr>
          <a:xfrm>
            <a:off x="876300" y="4159448"/>
            <a:ext cx="4686300"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SMART SHOPPERS</a:t>
            </a:r>
            <a:endParaRPr/>
          </a:p>
        </p:txBody>
      </p:sp>
      <p:sp>
        <p:nvSpPr>
          <p:cNvPr id="224" name="Google Shape;224;p20"/>
          <p:cNvSpPr txBox="1"/>
          <p:nvPr/>
        </p:nvSpPr>
        <p:spPr>
          <a:xfrm>
            <a:off x="876300" y="4319016"/>
            <a:ext cx="4686300" cy="3693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dirty="0">
                <a:solidFill>
                  <a:srgbClr val="94A3B8"/>
                </a:solidFill>
                <a:latin typeface="Inter"/>
                <a:ea typeface="Inter"/>
                <a:cs typeface="Inter"/>
                <a:sym typeface="Inter"/>
              </a:rPr>
              <a:t>Promotional coupon redeemers spending</a:t>
            </a:r>
          </a:p>
          <a:p>
            <a:pPr marL="0" marR="0" lvl="0" indent="0" algn="l" rtl="0">
              <a:spcBef>
                <a:spcPts val="0"/>
              </a:spcBef>
              <a:spcAft>
                <a:spcPts val="0"/>
              </a:spcAft>
              <a:buNone/>
            </a:pPr>
            <a:r>
              <a:rPr lang="en-US" sz="1200" b="0" i="0" u="none" strike="noStrike" cap="none" dirty="0">
                <a:solidFill>
                  <a:srgbClr val="94A3B8"/>
                </a:solidFill>
                <a:latin typeface="Inter"/>
                <a:ea typeface="Inter"/>
                <a:cs typeface="Inter"/>
                <a:sym typeface="Inter"/>
              </a:rPr>
              <a:t> above standard average levels.</a:t>
            </a:r>
            <a:endParaRPr sz="1200" dirty="0"/>
          </a:p>
        </p:txBody>
      </p:sp>
      <p:sp>
        <p:nvSpPr>
          <p:cNvPr id="225" name="Google Shape;225;p20"/>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Promotion Optimization</a:t>
            </a:r>
            <a:endParaRPr/>
          </a:p>
        </p:txBody>
      </p:sp>
      <p:sp>
        <p:nvSpPr>
          <p:cNvPr id="226" name="Google Shape;226;p20"/>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High-Spending </a:t>
            </a:r>
            <a:r>
              <a:rPr lang="en-US" sz="2550" b="0" i="0" u="none" strike="noStrike" cap="none">
                <a:solidFill>
                  <a:srgbClr val="D9A05B"/>
                </a:solidFill>
                <a:latin typeface="Montserrat ExtraBold"/>
                <a:ea typeface="Montserrat ExtraBold"/>
                <a:cs typeface="Montserrat ExtraBold"/>
                <a:sym typeface="Montserrat ExtraBold"/>
              </a:rPr>
              <a:t>Discount Users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0"/>
        <p:cNvGrpSpPr/>
        <p:nvPr/>
      </p:nvGrpSpPr>
      <p:grpSpPr>
        <a:xfrm>
          <a:off x="0" y="0"/>
          <a:ext cx="0" cy="0"/>
          <a:chOff x="0" y="0"/>
          <a:chExt cx="0" cy="0"/>
        </a:xfrm>
      </p:grpSpPr>
      <p:pic>
        <p:nvPicPr>
          <p:cNvPr id="231" name="Google Shape;231;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2" name="Google Shape;232;p21" descr="image.png"/>
          <p:cNvPicPr preferRelativeResize="0"/>
          <p:nvPr/>
        </p:nvPicPr>
        <p:blipFill rotWithShape="1">
          <a:blip r:embed="rId4">
            <a:alphaModFix/>
          </a:blip>
          <a:srcRect/>
          <a:stretch/>
        </p:blipFill>
        <p:spPr>
          <a:xfrm>
            <a:off x="590550" y="3095625"/>
            <a:ext cx="3581400" cy="1662112"/>
          </a:xfrm>
          <a:prstGeom prst="rect">
            <a:avLst/>
          </a:prstGeom>
          <a:noFill/>
          <a:ln>
            <a:noFill/>
          </a:ln>
        </p:spPr>
      </p:pic>
      <p:pic>
        <p:nvPicPr>
          <p:cNvPr id="233" name="Google Shape;233;p21" descr="image.png"/>
          <p:cNvPicPr preferRelativeResize="0"/>
          <p:nvPr/>
        </p:nvPicPr>
        <p:blipFill rotWithShape="1">
          <a:blip r:embed="rId5">
            <a:alphaModFix/>
          </a:blip>
          <a:srcRect/>
          <a:stretch/>
        </p:blipFill>
        <p:spPr>
          <a:xfrm>
            <a:off x="4300537" y="3095625"/>
            <a:ext cx="3581400" cy="1662112"/>
          </a:xfrm>
          <a:prstGeom prst="rect">
            <a:avLst/>
          </a:prstGeom>
          <a:noFill/>
          <a:ln>
            <a:noFill/>
          </a:ln>
        </p:spPr>
      </p:pic>
      <p:pic>
        <p:nvPicPr>
          <p:cNvPr id="234" name="Google Shape;234;p21" descr="image.png"/>
          <p:cNvPicPr preferRelativeResize="0"/>
          <p:nvPr/>
        </p:nvPicPr>
        <p:blipFill rotWithShape="1">
          <a:blip r:embed="rId6">
            <a:alphaModFix/>
          </a:blip>
          <a:srcRect/>
          <a:stretch/>
        </p:blipFill>
        <p:spPr>
          <a:xfrm>
            <a:off x="8029575" y="3126581"/>
            <a:ext cx="3581400" cy="1662112"/>
          </a:xfrm>
          <a:prstGeom prst="rect">
            <a:avLst/>
          </a:prstGeom>
          <a:noFill/>
          <a:ln>
            <a:noFill/>
          </a:ln>
        </p:spPr>
      </p:pic>
      <p:pic>
        <p:nvPicPr>
          <p:cNvPr id="235" name="Google Shape;235;p21" descr="image.png"/>
          <p:cNvPicPr preferRelativeResize="0"/>
          <p:nvPr/>
        </p:nvPicPr>
        <p:blipFill rotWithShape="1">
          <a:blip r:embed="rId7">
            <a:alphaModFix/>
          </a:blip>
          <a:srcRect/>
          <a:stretch/>
        </p:blipFill>
        <p:spPr>
          <a:xfrm>
            <a:off x="10053637" y="485775"/>
            <a:ext cx="1557337" cy="228600"/>
          </a:xfrm>
          <a:prstGeom prst="rect">
            <a:avLst/>
          </a:prstGeom>
          <a:noFill/>
          <a:ln>
            <a:noFill/>
          </a:ln>
        </p:spPr>
      </p:pic>
      <p:sp>
        <p:nvSpPr>
          <p:cNvPr id="236" name="Google Shape;236;p21"/>
          <p:cNvSpPr/>
          <p:nvPr/>
        </p:nvSpPr>
        <p:spPr>
          <a:xfrm>
            <a:off x="590550" y="3816085"/>
            <a:ext cx="3562350" cy="28575"/>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7" name="Google Shape;237;p21"/>
          <p:cNvSpPr txBox="1"/>
          <p:nvPr/>
        </p:nvSpPr>
        <p:spPr>
          <a:xfrm>
            <a:off x="819150" y="3364706"/>
            <a:ext cx="31051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D9A05B"/>
                </a:solidFill>
                <a:latin typeface="Inter SemiBold"/>
                <a:ea typeface="Inter SemiBold"/>
                <a:cs typeface="Inter SemiBold"/>
                <a:sym typeface="Inter SemiBold"/>
              </a:rPr>
              <a:t>Rank 01</a:t>
            </a:r>
            <a:endParaRPr/>
          </a:p>
        </p:txBody>
      </p:sp>
      <p:sp>
        <p:nvSpPr>
          <p:cNvPr id="238" name="Google Shape;238;p21"/>
          <p:cNvSpPr txBox="1"/>
          <p:nvPr/>
        </p:nvSpPr>
        <p:spPr>
          <a:xfrm>
            <a:off x="3085147" y="3926681"/>
            <a:ext cx="3105150" cy="152400"/>
          </a:xfrm>
          <a:prstGeom prst="rect">
            <a:avLst/>
          </a:prstGeom>
          <a:noFill/>
          <a:ln>
            <a:noFill/>
          </a:ln>
        </p:spPr>
        <p:txBody>
          <a:bodyPr spcFirstLastPara="1" wrap="square" lIns="142875" tIns="0" rIns="0" bIns="0" anchor="t" anchorCtr="0">
            <a:spAutoFit/>
          </a:bodyPr>
          <a:lstStyle/>
          <a:p>
            <a:pPr marL="0" marR="0" lvl="0" indent="0" algn="l" rtl="0">
              <a:spcBef>
                <a:spcPts val="0"/>
              </a:spcBef>
              <a:spcAft>
                <a:spcPts val="0"/>
              </a:spcAft>
              <a:buNone/>
            </a:pPr>
            <a:r>
              <a:rPr lang="en-US" sz="975" b="0" i="0" u="none" strike="noStrike" cap="none" dirty="0">
                <a:solidFill>
                  <a:srgbClr val="94A3B8"/>
                </a:solidFill>
                <a:latin typeface="Inter"/>
                <a:ea typeface="Inter"/>
                <a:cs typeface="Inter"/>
                <a:sym typeface="Inter"/>
              </a:rPr>
              <a:t>3.86 / 5.0</a:t>
            </a:r>
            <a:endParaRPr dirty="0"/>
          </a:p>
        </p:txBody>
      </p:sp>
      <p:sp>
        <p:nvSpPr>
          <p:cNvPr id="239" name="Google Shape;239;p21"/>
          <p:cNvSpPr txBox="1"/>
          <p:nvPr/>
        </p:nvSpPr>
        <p:spPr>
          <a:xfrm>
            <a:off x="819150" y="4193381"/>
            <a:ext cx="3105150" cy="357187"/>
          </a:xfrm>
          <a:prstGeom prst="rect">
            <a:avLst/>
          </a:prstGeom>
          <a:noFill/>
          <a:ln>
            <a:noFill/>
          </a:ln>
        </p:spPr>
        <p:txBody>
          <a:bodyPr spcFirstLastPara="1" wrap="square" lIns="0" tIns="0" rIns="0" bIns="0" anchor="t" anchorCtr="0">
            <a:spAutoFit/>
          </a:bodyPr>
          <a:lstStyle/>
          <a:p>
            <a:pPr marL="0" marR="0" lvl="0" indent="0" algn="l" rtl="0">
              <a:lnSpc>
                <a:spcPct val="150053"/>
              </a:lnSpc>
              <a:spcBef>
                <a:spcPts val="0"/>
              </a:spcBef>
              <a:spcAft>
                <a:spcPts val="0"/>
              </a:spcAft>
              <a:buNone/>
            </a:pPr>
            <a:r>
              <a:rPr lang="en-US" sz="937" b="0" i="0" u="none" strike="noStrike" cap="none">
                <a:solidFill>
                  <a:srgbClr val="94A3B8"/>
                </a:solidFill>
                <a:latin typeface="Inter"/>
                <a:ea typeface="Inter"/>
                <a:cs typeface="Inter"/>
                <a:sym typeface="Inter"/>
              </a:rPr>
              <a:t>"Highest review satisfaction rating across all clothing accessory lines."</a:t>
            </a:r>
            <a:endParaRPr/>
          </a:p>
        </p:txBody>
      </p:sp>
      <p:sp>
        <p:nvSpPr>
          <p:cNvPr id="240" name="Google Shape;240;p21"/>
          <p:cNvSpPr/>
          <p:nvPr/>
        </p:nvSpPr>
        <p:spPr>
          <a:xfrm>
            <a:off x="4319588" y="3816084"/>
            <a:ext cx="3562350" cy="28575"/>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1"/>
          <p:cNvSpPr txBox="1"/>
          <p:nvPr/>
        </p:nvSpPr>
        <p:spPr>
          <a:xfrm>
            <a:off x="4543425" y="3364706"/>
            <a:ext cx="31051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D9A05B"/>
                </a:solidFill>
                <a:latin typeface="Inter SemiBold"/>
                <a:ea typeface="Inter SemiBold"/>
                <a:cs typeface="Inter SemiBold"/>
                <a:sym typeface="Inter SemiBold"/>
              </a:rPr>
              <a:t>Rank 02</a:t>
            </a:r>
            <a:endParaRPr/>
          </a:p>
        </p:txBody>
      </p:sp>
      <p:sp>
        <p:nvSpPr>
          <p:cNvPr id="242" name="Google Shape;242;p21"/>
          <p:cNvSpPr txBox="1"/>
          <p:nvPr/>
        </p:nvSpPr>
        <p:spPr>
          <a:xfrm>
            <a:off x="6858000" y="3899693"/>
            <a:ext cx="3105150" cy="152400"/>
          </a:xfrm>
          <a:prstGeom prst="rect">
            <a:avLst/>
          </a:prstGeom>
          <a:noFill/>
          <a:ln>
            <a:noFill/>
          </a:ln>
        </p:spPr>
        <p:txBody>
          <a:bodyPr spcFirstLastPara="1" wrap="square" lIns="142875" tIns="0" rIns="0" bIns="0" anchor="t" anchorCtr="0">
            <a:spAutoFit/>
          </a:bodyPr>
          <a:lstStyle/>
          <a:p>
            <a:pPr marL="0" marR="0" lvl="0" indent="0" algn="l" rtl="0">
              <a:spcBef>
                <a:spcPts val="0"/>
              </a:spcBef>
              <a:spcAft>
                <a:spcPts val="0"/>
              </a:spcAft>
              <a:buNone/>
            </a:pPr>
            <a:r>
              <a:rPr lang="en-US" sz="975" b="0" i="0" u="none" strike="noStrike" cap="none" dirty="0">
                <a:solidFill>
                  <a:srgbClr val="94A3B8"/>
                </a:solidFill>
                <a:latin typeface="Inter"/>
                <a:ea typeface="Inter"/>
                <a:cs typeface="Inter"/>
                <a:sym typeface="Inter"/>
              </a:rPr>
              <a:t>3.84 / 5.0</a:t>
            </a:r>
            <a:endParaRPr dirty="0"/>
          </a:p>
        </p:txBody>
      </p:sp>
      <p:sp>
        <p:nvSpPr>
          <p:cNvPr id="243" name="Google Shape;243;p21"/>
          <p:cNvSpPr txBox="1"/>
          <p:nvPr/>
        </p:nvSpPr>
        <p:spPr>
          <a:xfrm>
            <a:off x="4543425" y="4193381"/>
            <a:ext cx="3105150" cy="357187"/>
          </a:xfrm>
          <a:prstGeom prst="rect">
            <a:avLst/>
          </a:prstGeom>
          <a:noFill/>
          <a:ln>
            <a:noFill/>
          </a:ln>
        </p:spPr>
        <p:txBody>
          <a:bodyPr spcFirstLastPara="1" wrap="square" lIns="0" tIns="0" rIns="0" bIns="0" anchor="t" anchorCtr="0">
            <a:spAutoFit/>
          </a:bodyPr>
          <a:lstStyle/>
          <a:p>
            <a:pPr marL="0" marR="0" lvl="0" indent="0" algn="l" rtl="0">
              <a:lnSpc>
                <a:spcPct val="150053"/>
              </a:lnSpc>
              <a:spcBef>
                <a:spcPts val="0"/>
              </a:spcBef>
              <a:spcAft>
                <a:spcPts val="0"/>
              </a:spcAft>
              <a:buNone/>
            </a:pPr>
            <a:r>
              <a:rPr lang="en-US" sz="937" b="0" i="0" u="none" strike="noStrike" cap="none">
                <a:solidFill>
                  <a:srgbClr val="94A3B8"/>
                </a:solidFill>
                <a:latin typeface="Inter"/>
                <a:ea typeface="Inter"/>
                <a:cs typeface="Inter"/>
                <a:sym typeface="Inter"/>
              </a:rPr>
              <a:t>"Consistently strong ratings, representing a key seasonal footwear option."</a:t>
            </a:r>
            <a:endParaRPr/>
          </a:p>
        </p:txBody>
      </p:sp>
      <p:sp>
        <p:nvSpPr>
          <p:cNvPr id="244" name="Google Shape;244;p21"/>
          <p:cNvSpPr/>
          <p:nvPr/>
        </p:nvSpPr>
        <p:spPr>
          <a:xfrm>
            <a:off x="8075611" y="3807618"/>
            <a:ext cx="3562350" cy="28575"/>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5" name="Google Shape;245;p21"/>
          <p:cNvSpPr txBox="1"/>
          <p:nvPr/>
        </p:nvSpPr>
        <p:spPr>
          <a:xfrm>
            <a:off x="8267700" y="3364706"/>
            <a:ext cx="3105150" cy="4476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D9A05B"/>
                </a:solidFill>
                <a:latin typeface="Inter SemiBold"/>
                <a:ea typeface="Inter SemiBold"/>
                <a:cs typeface="Inter SemiBold"/>
                <a:sym typeface="Inter SemiBold"/>
              </a:rPr>
              <a:t>Rank 03</a:t>
            </a:r>
            <a:endParaRPr/>
          </a:p>
        </p:txBody>
      </p:sp>
      <p:sp>
        <p:nvSpPr>
          <p:cNvPr id="246" name="Google Shape;246;p21"/>
          <p:cNvSpPr txBox="1"/>
          <p:nvPr/>
        </p:nvSpPr>
        <p:spPr>
          <a:xfrm>
            <a:off x="10609897" y="3926681"/>
            <a:ext cx="3105150" cy="152400"/>
          </a:xfrm>
          <a:prstGeom prst="rect">
            <a:avLst/>
          </a:prstGeom>
          <a:noFill/>
          <a:ln>
            <a:noFill/>
          </a:ln>
        </p:spPr>
        <p:txBody>
          <a:bodyPr spcFirstLastPara="1" wrap="square" lIns="142875" tIns="0" rIns="0" bIns="0" anchor="t" anchorCtr="0">
            <a:spAutoFit/>
          </a:bodyPr>
          <a:lstStyle/>
          <a:p>
            <a:pPr marL="0" marR="0" lvl="0" indent="0" algn="l" rtl="0">
              <a:spcBef>
                <a:spcPts val="0"/>
              </a:spcBef>
              <a:spcAft>
                <a:spcPts val="0"/>
              </a:spcAft>
              <a:buNone/>
            </a:pPr>
            <a:r>
              <a:rPr lang="en-US" sz="975" b="0" i="0" u="none" strike="noStrike" cap="none" dirty="0">
                <a:solidFill>
                  <a:srgbClr val="94A3B8"/>
                </a:solidFill>
                <a:latin typeface="Inter"/>
                <a:ea typeface="Inter"/>
                <a:cs typeface="Inter"/>
                <a:sym typeface="Inter"/>
              </a:rPr>
              <a:t>3.82 / 5.0</a:t>
            </a:r>
            <a:endParaRPr dirty="0"/>
          </a:p>
        </p:txBody>
      </p:sp>
      <p:sp>
        <p:nvSpPr>
          <p:cNvPr id="247" name="Google Shape;247;p21"/>
          <p:cNvSpPr txBox="1"/>
          <p:nvPr/>
        </p:nvSpPr>
        <p:spPr>
          <a:xfrm>
            <a:off x="8267700" y="4193381"/>
            <a:ext cx="3105150" cy="357187"/>
          </a:xfrm>
          <a:prstGeom prst="rect">
            <a:avLst/>
          </a:prstGeom>
          <a:noFill/>
          <a:ln>
            <a:noFill/>
          </a:ln>
        </p:spPr>
        <p:txBody>
          <a:bodyPr spcFirstLastPara="1" wrap="square" lIns="0" tIns="0" rIns="0" bIns="0" anchor="t" anchorCtr="0">
            <a:spAutoFit/>
          </a:bodyPr>
          <a:lstStyle/>
          <a:p>
            <a:pPr marL="0" marR="0" lvl="0" indent="0" algn="l" rtl="0">
              <a:lnSpc>
                <a:spcPct val="150053"/>
              </a:lnSpc>
              <a:spcBef>
                <a:spcPts val="0"/>
              </a:spcBef>
              <a:spcAft>
                <a:spcPts val="0"/>
              </a:spcAft>
              <a:buNone/>
            </a:pPr>
            <a:r>
              <a:rPr lang="en-US" sz="937" b="0" i="0" u="none" strike="noStrike" cap="none">
                <a:solidFill>
                  <a:srgbClr val="94A3B8"/>
                </a:solidFill>
                <a:latin typeface="Inter"/>
                <a:ea typeface="Inter"/>
                <a:cs typeface="Inter"/>
                <a:sym typeface="Inter"/>
              </a:rPr>
              <a:t>"Top-tier autumn and winter category choice, driving premium margins."</a:t>
            </a:r>
            <a:endParaRPr/>
          </a:p>
        </p:txBody>
      </p:sp>
      <p:sp>
        <p:nvSpPr>
          <p:cNvPr id="248" name="Google Shape;248;p21"/>
          <p:cNvSpPr txBox="1"/>
          <p:nvPr/>
        </p:nvSpPr>
        <p:spPr>
          <a:xfrm>
            <a:off x="819150" y="3555206"/>
            <a:ext cx="3260407"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Montserrat"/>
                <a:ea typeface="Montserrat"/>
                <a:cs typeface="Montserrat"/>
                <a:sym typeface="Montserrat"/>
              </a:rPr>
              <a:t>Gloves</a:t>
            </a:r>
            <a:endParaRPr/>
          </a:p>
        </p:txBody>
      </p:sp>
      <p:pic>
        <p:nvPicPr>
          <p:cNvPr id="249" name="Google Shape;249;p21" descr="image.png"/>
          <p:cNvPicPr preferRelativeResize="0"/>
          <p:nvPr/>
        </p:nvPicPr>
        <p:blipFill rotWithShape="1">
          <a:blip r:embed="rId8">
            <a:alphaModFix/>
          </a:blip>
          <a:srcRect/>
          <a:stretch/>
        </p:blipFill>
        <p:spPr>
          <a:xfrm>
            <a:off x="819150" y="3945731"/>
            <a:ext cx="142875" cy="123825"/>
          </a:xfrm>
          <a:prstGeom prst="rect">
            <a:avLst/>
          </a:prstGeom>
          <a:noFill/>
          <a:ln>
            <a:noFill/>
          </a:ln>
        </p:spPr>
      </p:pic>
      <p:pic>
        <p:nvPicPr>
          <p:cNvPr id="250" name="Google Shape;250;p21" descr="image.png"/>
          <p:cNvPicPr preferRelativeResize="0"/>
          <p:nvPr/>
        </p:nvPicPr>
        <p:blipFill rotWithShape="1">
          <a:blip r:embed="rId8">
            <a:alphaModFix/>
          </a:blip>
          <a:srcRect/>
          <a:stretch/>
        </p:blipFill>
        <p:spPr>
          <a:xfrm>
            <a:off x="1000125" y="3945731"/>
            <a:ext cx="142875" cy="123825"/>
          </a:xfrm>
          <a:prstGeom prst="rect">
            <a:avLst/>
          </a:prstGeom>
          <a:noFill/>
          <a:ln>
            <a:noFill/>
          </a:ln>
        </p:spPr>
      </p:pic>
      <p:pic>
        <p:nvPicPr>
          <p:cNvPr id="251" name="Google Shape;251;p21" descr="image.png"/>
          <p:cNvPicPr preferRelativeResize="0"/>
          <p:nvPr/>
        </p:nvPicPr>
        <p:blipFill rotWithShape="1">
          <a:blip r:embed="rId8">
            <a:alphaModFix/>
          </a:blip>
          <a:srcRect/>
          <a:stretch/>
        </p:blipFill>
        <p:spPr>
          <a:xfrm>
            <a:off x="1181100" y="3945731"/>
            <a:ext cx="142875" cy="123825"/>
          </a:xfrm>
          <a:prstGeom prst="rect">
            <a:avLst/>
          </a:prstGeom>
          <a:noFill/>
          <a:ln>
            <a:noFill/>
          </a:ln>
        </p:spPr>
      </p:pic>
      <p:pic>
        <p:nvPicPr>
          <p:cNvPr id="252" name="Google Shape;252;p21" descr="image.png"/>
          <p:cNvPicPr preferRelativeResize="0"/>
          <p:nvPr/>
        </p:nvPicPr>
        <p:blipFill rotWithShape="1">
          <a:blip r:embed="rId8">
            <a:alphaModFix/>
          </a:blip>
          <a:srcRect/>
          <a:stretch/>
        </p:blipFill>
        <p:spPr>
          <a:xfrm>
            <a:off x="1362075" y="3945731"/>
            <a:ext cx="142875" cy="123825"/>
          </a:xfrm>
          <a:prstGeom prst="rect">
            <a:avLst/>
          </a:prstGeom>
          <a:noFill/>
          <a:ln>
            <a:noFill/>
          </a:ln>
        </p:spPr>
      </p:pic>
      <p:pic>
        <p:nvPicPr>
          <p:cNvPr id="253" name="Google Shape;253;p21" descr="image.png"/>
          <p:cNvPicPr preferRelativeResize="0"/>
          <p:nvPr/>
        </p:nvPicPr>
        <p:blipFill rotWithShape="1">
          <a:blip r:embed="rId9">
            <a:alphaModFix/>
          </a:blip>
          <a:srcRect/>
          <a:stretch/>
        </p:blipFill>
        <p:spPr>
          <a:xfrm>
            <a:off x="1543050" y="3945731"/>
            <a:ext cx="142875" cy="123825"/>
          </a:xfrm>
          <a:prstGeom prst="rect">
            <a:avLst/>
          </a:prstGeom>
          <a:noFill/>
          <a:ln>
            <a:noFill/>
          </a:ln>
        </p:spPr>
      </p:pic>
      <p:sp>
        <p:nvSpPr>
          <p:cNvPr id="254" name="Google Shape;254;p21"/>
          <p:cNvSpPr txBox="1"/>
          <p:nvPr/>
        </p:nvSpPr>
        <p:spPr>
          <a:xfrm>
            <a:off x="4543425" y="3555206"/>
            <a:ext cx="3260407"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Montserrat"/>
                <a:ea typeface="Montserrat"/>
                <a:cs typeface="Montserrat"/>
                <a:sym typeface="Montserrat"/>
              </a:rPr>
              <a:t>Sandals</a:t>
            </a:r>
            <a:endParaRPr/>
          </a:p>
        </p:txBody>
      </p:sp>
      <p:pic>
        <p:nvPicPr>
          <p:cNvPr id="255" name="Google Shape;255;p21" descr="image.png"/>
          <p:cNvPicPr preferRelativeResize="0"/>
          <p:nvPr/>
        </p:nvPicPr>
        <p:blipFill rotWithShape="1">
          <a:blip r:embed="rId10">
            <a:alphaModFix/>
          </a:blip>
          <a:srcRect/>
          <a:stretch/>
        </p:blipFill>
        <p:spPr>
          <a:xfrm>
            <a:off x="4543425" y="3945731"/>
            <a:ext cx="142875" cy="123825"/>
          </a:xfrm>
          <a:prstGeom prst="rect">
            <a:avLst/>
          </a:prstGeom>
          <a:noFill/>
          <a:ln>
            <a:noFill/>
          </a:ln>
        </p:spPr>
      </p:pic>
      <p:pic>
        <p:nvPicPr>
          <p:cNvPr id="256" name="Google Shape;256;p21" descr="image.png"/>
          <p:cNvPicPr preferRelativeResize="0"/>
          <p:nvPr/>
        </p:nvPicPr>
        <p:blipFill rotWithShape="1">
          <a:blip r:embed="rId10">
            <a:alphaModFix/>
          </a:blip>
          <a:srcRect/>
          <a:stretch/>
        </p:blipFill>
        <p:spPr>
          <a:xfrm>
            <a:off x="4724400" y="3945731"/>
            <a:ext cx="142875" cy="123825"/>
          </a:xfrm>
          <a:prstGeom prst="rect">
            <a:avLst/>
          </a:prstGeom>
          <a:noFill/>
          <a:ln>
            <a:noFill/>
          </a:ln>
        </p:spPr>
      </p:pic>
      <p:pic>
        <p:nvPicPr>
          <p:cNvPr id="257" name="Google Shape;257;p21" descr="image.png"/>
          <p:cNvPicPr preferRelativeResize="0"/>
          <p:nvPr/>
        </p:nvPicPr>
        <p:blipFill rotWithShape="1">
          <a:blip r:embed="rId10">
            <a:alphaModFix/>
          </a:blip>
          <a:srcRect/>
          <a:stretch/>
        </p:blipFill>
        <p:spPr>
          <a:xfrm>
            <a:off x="4905375" y="3945731"/>
            <a:ext cx="142875" cy="123825"/>
          </a:xfrm>
          <a:prstGeom prst="rect">
            <a:avLst/>
          </a:prstGeom>
          <a:noFill/>
          <a:ln>
            <a:noFill/>
          </a:ln>
        </p:spPr>
      </p:pic>
      <p:pic>
        <p:nvPicPr>
          <p:cNvPr id="258" name="Google Shape;258;p21" descr="image.png"/>
          <p:cNvPicPr preferRelativeResize="0"/>
          <p:nvPr/>
        </p:nvPicPr>
        <p:blipFill rotWithShape="1">
          <a:blip r:embed="rId10">
            <a:alphaModFix/>
          </a:blip>
          <a:srcRect/>
          <a:stretch/>
        </p:blipFill>
        <p:spPr>
          <a:xfrm>
            <a:off x="5086350" y="3945731"/>
            <a:ext cx="142875" cy="123825"/>
          </a:xfrm>
          <a:prstGeom prst="rect">
            <a:avLst/>
          </a:prstGeom>
          <a:noFill/>
          <a:ln>
            <a:noFill/>
          </a:ln>
        </p:spPr>
      </p:pic>
      <p:pic>
        <p:nvPicPr>
          <p:cNvPr id="259" name="Google Shape;259;p21" descr="image.png"/>
          <p:cNvPicPr preferRelativeResize="0"/>
          <p:nvPr/>
        </p:nvPicPr>
        <p:blipFill rotWithShape="1">
          <a:blip r:embed="rId11">
            <a:alphaModFix/>
          </a:blip>
          <a:srcRect/>
          <a:stretch/>
        </p:blipFill>
        <p:spPr>
          <a:xfrm>
            <a:off x="5267325" y="3945731"/>
            <a:ext cx="142875" cy="123825"/>
          </a:xfrm>
          <a:prstGeom prst="rect">
            <a:avLst/>
          </a:prstGeom>
          <a:noFill/>
          <a:ln>
            <a:noFill/>
          </a:ln>
        </p:spPr>
      </p:pic>
      <p:sp>
        <p:nvSpPr>
          <p:cNvPr id="260" name="Google Shape;260;p21"/>
          <p:cNvSpPr txBox="1"/>
          <p:nvPr/>
        </p:nvSpPr>
        <p:spPr>
          <a:xfrm>
            <a:off x="8267700" y="3555206"/>
            <a:ext cx="3260407"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Montserrat"/>
                <a:ea typeface="Montserrat"/>
                <a:cs typeface="Montserrat"/>
                <a:sym typeface="Montserrat"/>
              </a:rPr>
              <a:t>Boots</a:t>
            </a:r>
            <a:endParaRPr/>
          </a:p>
        </p:txBody>
      </p:sp>
      <p:pic>
        <p:nvPicPr>
          <p:cNvPr id="261" name="Google Shape;261;p21" descr="image.png"/>
          <p:cNvPicPr preferRelativeResize="0"/>
          <p:nvPr/>
        </p:nvPicPr>
        <p:blipFill rotWithShape="1">
          <a:blip r:embed="rId12">
            <a:alphaModFix/>
          </a:blip>
          <a:srcRect/>
          <a:stretch/>
        </p:blipFill>
        <p:spPr>
          <a:xfrm>
            <a:off x="8267700" y="3945731"/>
            <a:ext cx="142875" cy="123825"/>
          </a:xfrm>
          <a:prstGeom prst="rect">
            <a:avLst/>
          </a:prstGeom>
          <a:noFill/>
          <a:ln>
            <a:noFill/>
          </a:ln>
        </p:spPr>
      </p:pic>
      <p:pic>
        <p:nvPicPr>
          <p:cNvPr id="262" name="Google Shape;262;p21" descr="image.png"/>
          <p:cNvPicPr preferRelativeResize="0"/>
          <p:nvPr/>
        </p:nvPicPr>
        <p:blipFill rotWithShape="1">
          <a:blip r:embed="rId12">
            <a:alphaModFix/>
          </a:blip>
          <a:srcRect/>
          <a:stretch/>
        </p:blipFill>
        <p:spPr>
          <a:xfrm>
            <a:off x="8448675" y="3945731"/>
            <a:ext cx="142875" cy="123825"/>
          </a:xfrm>
          <a:prstGeom prst="rect">
            <a:avLst/>
          </a:prstGeom>
          <a:noFill/>
          <a:ln>
            <a:noFill/>
          </a:ln>
        </p:spPr>
      </p:pic>
      <p:pic>
        <p:nvPicPr>
          <p:cNvPr id="263" name="Google Shape;263;p21" descr="image.png"/>
          <p:cNvPicPr preferRelativeResize="0"/>
          <p:nvPr/>
        </p:nvPicPr>
        <p:blipFill rotWithShape="1">
          <a:blip r:embed="rId12">
            <a:alphaModFix/>
          </a:blip>
          <a:srcRect/>
          <a:stretch/>
        </p:blipFill>
        <p:spPr>
          <a:xfrm>
            <a:off x="8629650" y="3945731"/>
            <a:ext cx="142875" cy="123825"/>
          </a:xfrm>
          <a:prstGeom prst="rect">
            <a:avLst/>
          </a:prstGeom>
          <a:noFill/>
          <a:ln>
            <a:noFill/>
          </a:ln>
        </p:spPr>
      </p:pic>
      <p:pic>
        <p:nvPicPr>
          <p:cNvPr id="264" name="Google Shape;264;p21" descr="image.png"/>
          <p:cNvPicPr preferRelativeResize="0"/>
          <p:nvPr/>
        </p:nvPicPr>
        <p:blipFill rotWithShape="1">
          <a:blip r:embed="rId12">
            <a:alphaModFix/>
          </a:blip>
          <a:srcRect/>
          <a:stretch/>
        </p:blipFill>
        <p:spPr>
          <a:xfrm>
            <a:off x="8810625" y="3945731"/>
            <a:ext cx="142875" cy="123825"/>
          </a:xfrm>
          <a:prstGeom prst="rect">
            <a:avLst/>
          </a:prstGeom>
          <a:noFill/>
          <a:ln>
            <a:noFill/>
          </a:ln>
        </p:spPr>
      </p:pic>
      <p:pic>
        <p:nvPicPr>
          <p:cNvPr id="265" name="Google Shape;265;p21" descr="image.png"/>
          <p:cNvPicPr preferRelativeResize="0"/>
          <p:nvPr/>
        </p:nvPicPr>
        <p:blipFill rotWithShape="1">
          <a:blip r:embed="rId13">
            <a:alphaModFix/>
          </a:blip>
          <a:srcRect/>
          <a:stretch/>
        </p:blipFill>
        <p:spPr>
          <a:xfrm>
            <a:off x="8991600" y="3945731"/>
            <a:ext cx="142875" cy="123825"/>
          </a:xfrm>
          <a:prstGeom prst="rect">
            <a:avLst/>
          </a:prstGeom>
          <a:noFill/>
          <a:ln>
            <a:noFill/>
          </a:ln>
        </p:spPr>
      </p:pic>
      <p:sp>
        <p:nvSpPr>
          <p:cNvPr id="266" name="Google Shape;266;p21"/>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Quality Index Ledger</a:t>
            </a:r>
            <a:endParaRPr/>
          </a:p>
        </p:txBody>
      </p:sp>
      <p:sp>
        <p:nvSpPr>
          <p:cNvPr id="267" name="Google Shape;267;p21"/>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Top-Rated </a:t>
            </a:r>
            <a:r>
              <a:rPr lang="en-US" sz="2550" b="0" i="0" u="none" strike="noStrike" cap="none">
                <a:solidFill>
                  <a:srgbClr val="D9A05B"/>
                </a:solidFill>
                <a:latin typeface="Montserrat ExtraBold"/>
                <a:ea typeface="Montserrat ExtraBold"/>
                <a:cs typeface="Montserrat ExtraBold"/>
                <a:sym typeface="Montserrat ExtraBold"/>
              </a:rPr>
              <a:t>Products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71"/>
        <p:cNvGrpSpPr/>
        <p:nvPr/>
      </p:nvGrpSpPr>
      <p:grpSpPr>
        <a:xfrm>
          <a:off x="0" y="0"/>
          <a:ext cx="0" cy="0"/>
          <a:chOff x="0" y="0"/>
          <a:chExt cx="0" cy="0"/>
        </a:xfrm>
      </p:grpSpPr>
      <p:pic>
        <p:nvPicPr>
          <p:cNvPr id="272" name="Google Shape;27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3" name="Google Shape;273;p22" descr="image.png"/>
          <p:cNvPicPr preferRelativeResize="0"/>
          <p:nvPr/>
        </p:nvPicPr>
        <p:blipFill rotWithShape="1">
          <a:blip r:embed="rId4">
            <a:alphaModFix/>
          </a:blip>
          <a:srcRect/>
          <a:stretch/>
        </p:blipFill>
        <p:spPr>
          <a:xfrm>
            <a:off x="665692" y="2959522"/>
            <a:ext cx="11029950" cy="1929556"/>
          </a:xfrm>
          <a:prstGeom prst="rect">
            <a:avLst/>
          </a:prstGeom>
          <a:noFill/>
          <a:ln>
            <a:noFill/>
          </a:ln>
        </p:spPr>
      </p:pic>
      <p:pic>
        <p:nvPicPr>
          <p:cNvPr id="274" name="Google Shape;274;p22" descr="image.png"/>
          <p:cNvPicPr preferRelativeResize="0"/>
          <p:nvPr/>
        </p:nvPicPr>
        <p:blipFill rotWithShape="1">
          <a:blip r:embed="rId5">
            <a:alphaModFix/>
          </a:blip>
          <a:srcRect/>
          <a:stretch/>
        </p:blipFill>
        <p:spPr>
          <a:xfrm>
            <a:off x="6334125" y="2992784"/>
            <a:ext cx="5276850" cy="1217265"/>
          </a:xfrm>
          <a:prstGeom prst="rect">
            <a:avLst/>
          </a:prstGeom>
          <a:noFill/>
          <a:ln>
            <a:noFill/>
          </a:ln>
        </p:spPr>
      </p:pic>
      <p:pic>
        <p:nvPicPr>
          <p:cNvPr id="275" name="Google Shape;275;p22" descr="image.png"/>
          <p:cNvPicPr preferRelativeResize="0"/>
          <p:nvPr/>
        </p:nvPicPr>
        <p:blipFill rotWithShape="1">
          <a:blip r:embed="rId6">
            <a:alphaModFix/>
          </a:blip>
          <a:srcRect/>
          <a:stretch/>
        </p:blipFill>
        <p:spPr>
          <a:xfrm>
            <a:off x="10215562" y="485775"/>
            <a:ext cx="1395412" cy="228600"/>
          </a:xfrm>
          <a:prstGeom prst="rect">
            <a:avLst/>
          </a:prstGeom>
          <a:noFill/>
          <a:ln>
            <a:noFill/>
          </a:ln>
        </p:spPr>
      </p:pic>
      <p:sp>
        <p:nvSpPr>
          <p:cNvPr id="276" name="Google Shape;276;p22"/>
          <p:cNvSpPr txBox="1"/>
          <p:nvPr/>
        </p:nvSpPr>
        <p:spPr>
          <a:xfrm>
            <a:off x="6334125" y="4352925"/>
            <a:ext cx="5276850" cy="426541"/>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4A3B8"/>
                </a:solidFill>
                <a:latin typeface="Inter"/>
                <a:ea typeface="Inter"/>
                <a:cs typeface="Inter"/>
                <a:sym typeface="Inter"/>
              </a:rPr>
              <a:t>Clothing dominates transactional volume, representing nearly half of all customer orders. High-rated accessory categories offer significant cross-selling potential.</a:t>
            </a:r>
            <a:endParaRPr/>
          </a:p>
        </p:txBody>
      </p:sp>
      <p:sp>
        <p:nvSpPr>
          <p:cNvPr id="277" name="Google Shape;277;p22"/>
          <p:cNvSpPr/>
          <p:nvPr/>
        </p:nvSpPr>
        <p:spPr>
          <a:xfrm flipH="1">
            <a:off x="8991600" y="3002309"/>
            <a:ext cx="1223962" cy="1198216"/>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8" name="Google Shape;278;p22"/>
          <p:cNvSpPr txBox="1"/>
          <p:nvPr/>
        </p:nvSpPr>
        <p:spPr>
          <a:xfrm>
            <a:off x="6591300" y="3211859"/>
            <a:ext cx="4762500"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1,737</a:t>
            </a:r>
            <a:endParaRPr/>
          </a:p>
        </p:txBody>
      </p:sp>
      <p:sp>
        <p:nvSpPr>
          <p:cNvPr id="279" name="Google Shape;279;p22"/>
          <p:cNvSpPr txBox="1"/>
          <p:nvPr/>
        </p:nvSpPr>
        <p:spPr>
          <a:xfrm>
            <a:off x="6591300" y="3686175"/>
            <a:ext cx="4762500"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CLOTHING ORDERS</a:t>
            </a:r>
            <a:endParaRPr/>
          </a:p>
        </p:txBody>
      </p:sp>
      <p:sp>
        <p:nvSpPr>
          <p:cNvPr id="280" name="Google Shape;280;p22"/>
          <p:cNvSpPr txBox="1"/>
          <p:nvPr/>
        </p:nvSpPr>
        <p:spPr>
          <a:xfrm>
            <a:off x="6591300" y="3857625"/>
            <a:ext cx="4762500"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64748B"/>
                </a:solidFill>
                <a:latin typeface="Inter"/>
                <a:ea typeface="Inter"/>
                <a:cs typeface="Inter"/>
                <a:sym typeface="Inter"/>
              </a:rPr>
              <a:t>Primary revenue segment</a:t>
            </a:r>
            <a:endParaRPr/>
          </a:p>
        </p:txBody>
      </p:sp>
      <p:sp>
        <p:nvSpPr>
          <p:cNvPr id="281" name="Google Shape;281;p22"/>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Department Analysis</a:t>
            </a:r>
            <a:endParaRPr/>
          </a:p>
        </p:txBody>
      </p:sp>
      <p:sp>
        <p:nvSpPr>
          <p:cNvPr id="282" name="Google Shape;282;p22"/>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Department </a:t>
            </a:r>
            <a:r>
              <a:rPr lang="en-US" sz="2550" b="0" i="0" u="none" strike="noStrike" cap="none">
                <a:solidFill>
                  <a:srgbClr val="D9A05B"/>
                </a:solidFill>
                <a:latin typeface="Montserrat ExtraBold"/>
                <a:ea typeface="Montserrat ExtraBold"/>
                <a:cs typeface="Montserrat ExtraBold"/>
                <a:sym typeface="Montserrat ExtraBold"/>
              </a:rPr>
              <a:t>Performance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6"/>
        <p:cNvGrpSpPr/>
        <p:nvPr/>
      </p:nvGrpSpPr>
      <p:grpSpPr>
        <a:xfrm>
          <a:off x="0" y="0"/>
          <a:ext cx="0" cy="0"/>
          <a:chOff x="0" y="0"/>
          <a:chExt cx="0" cy="0"/>
        </a:xfrm>
      </p:grpSpPr>
      <p:pic>
        <p:nvPicPr>
          <p:cNvPr id="287" name="Google Shape;287;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88" name="Google Shape;288;p23" descr="image.png"/>
          <p:cNvPicPr preferRelativeResize="0"/>
          <p:nvPr/>
        </p:nvPicPr>
        <p:blipFill rotWithShape="1">
          <a:blip r:embed="rId4">
            <a:alphaModFix/>
          </a:blip>
          <a:srcRect/>
          <a:stretch/>
        </p:blipFill>
        <p:spPr>
          <a:xfrm>
            <a:off x="581025" y="4885283"/>
            <a:ext cx="11029950" cy="438150"/>
          </a:xfrm>
          <a:prstGeom prst="rect">
            <a:avLst/>
          </a:prstGeom>
          <a:noFill/>
          <a:ln>
            <a:noFill/>
          </a:ln>
        </p:spPr>
      </p:pic>
      <p:pic>
        <p:nvPicPr>
          <p:cNvPr id="289" name="Google Shape;289;p23" descr="image.png"/>
          <p:cNvPicPr preferRelativeResize="0"/>
          <p:nvPr/>
        </p:nvPicPr>
        <p:blipFill rotWithShape="1">
          <a:blip r:embed="rId5">
            <a:alphaModFix/>
          </a:blip>
          <a:srcRect/>
          <a:stretch/>
        </p:blipFill>
        <p:spPr>
          <a:xfrm>
            <a:off x="581025" y="3058417"/>
            <a:ext cx="5419725" cy="1588740"/>
          </a:xfrm>
          <a:prstGeom prst="rect">
            <a:avLst/>
          </a:prstGeom>
          <a:noFill/>
          <a:ln>
            <a:noFill/>
          </a:ln>
        </p:spPr>
      </p:pic>
      <p:pic>
        <p:nvPicPr>
          <p:cNvPr id="290" name="Google Shape;290;p23" descr="image.png"/>
          <p:cNvPicPr preferRelativeResize="0"/>
          <p:nvPr/>
        </p:nvPicPr>
        <p:blipFill rotWithShape="1">
          <a:blip r:embed="rId6">
            <a:alphaModFix/>
          </a:blip>
          <a:srcRect/>
          <a:stretch/>
        </p:blipFill>
        <p:spPr>
          <a:xfrm>
            <a:off x="6191250" y="3058417"/>
            <a:ext cx="5419725" cy="1588740"/>
          </a:xfrm>
          <a:prstGeom prst="rect">
            <a:avLst/>
          </a:prstGeom>
          <a:noFill/>
          <a:ln>
            <a:noFill/>
          </a:ln>
        </p:spPr>
      </p:pic>
      <p:pic>
        <p:nvPicPr>
          <p:cNvPr id="291" name="Google Shape;291;p23" descr="image.png"/>
          <p:cNvPicPr preferRelativeResize="0"/>
          <p:nvPr/>
        </p:nvPicPr>
        <p:blipFill rotWithShape="1">
          <a:blip r:embed="rId7">
            <a:alphaModFix/>
          </a:blip>
          <a:srcRect/>
          <a:stretch/>
        </p:blipFill>
        <p:spPr>
          <a:xfrm>
            <a:off x="838200" y="4170908"/>
            <a:ext cx="4905375" cy="257175"/>
          </a:xfrm>
          <a:prstGeom prst="rect">
            <a:avLst/>
          </a:prstGeom>
          <a:noFill/>
          <a:ln>
            <a:noFill/>
          </a:ln>
        </p:spPr>
      </p:pic>
      <p:pic>
        <p:nvPicPr>
          <p:cNvPr id="292" name="Google Shape;292;p23" descr="image.png"/>
          <p:cNvPicPr preferRelativeResize="0"/>
          <p:nvPr/>
        </p:nvPicPr>
        <p:blipFill rotWithShape="1">
          <a:blip r:embed="rId7">
            <a:alphaModFix/>
          </a:blip>
          <a:srcRect/>
          <a:stretch/>
        </p:blipFill>
        <p:spPr>
          <a:xfrm>
            <a:off x="6448425" y="4170908"/>
            <a:ext cx="4905375" cy="257175"/>
          </a:xfrm>
          <a:prstGeom prst="rect">
            <a:avLst/>
          </a:prstGeom>
          <a:noFill/>
          <a:ln>
            <a:noFill/>
          </a:ln>
        </p:spPr>
      </p:pic>
      <p:pic>
        <p:nvPicPr>
          <p:cNvPr id="293" name="Google Shape;293;p23" descr="image.png"/>
          <p:cNvPicPr preferRelativeResize="0"/>
          <p:nvPr/>
        </p:nvPicPr>
        <p:blipFill rotWithShape="1">
          <a:blip r:embed="rId8">
            <a:alphaModFix/>
          </a:blip>
          <a:srcRect/>
          <a:stretch/>
        </p:blipFill>
        <p:spPr>
          <a:xfrm>
            <a:off x="10287000" y="485775"/>
            <a:ext cx="1323975" cy="228600"/>
          </a:xfrm>
          <a:prstGeom prst="rect">
            <a:avLst/>
          </a:prstGeom>
          <a:noFill/>
          <a:ln>
            <a:noFill/>
          </a:ln>
        </p:spPr>
      </p:pic>
      <p:sp>
        <p:nvSpPr>
          <p:cNvPr id="294" name="Google Shape;294;p23"/>
          <p:cNvSpPr txBox="1"/>
          <p:nvPr/>
        </p:nvSpPr>
        <p:spPr>
          <a:xfrm>
            <a:off x="581025" y="2591692"/>
            <a:ext cx="11029950" cy="228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94A3B8"/>
                </a:solidFill>
                <a:latin typeface="Inter"/>
                <a:ea typeface="Inter"/>
                <a:cs typeface="Inter"/>
                <a:sym typeface="Inter"/>
              </a:rPr>
              <a:t>Comparing order trends and average spending habits between subscription members and standard non-subscribers.</a:t>
            </a:r>
            <a:endParaRPr/>
          </a:p>
        </p:txBody>
      </p:sp>
      <p:sp>
        <p:nvSpPr>
          <p:cNvPr id="295" name="Google Shape;295;p23"/>
          <p:cNvSpPr txBox="1"/>
          <p:nvPr/>
        </p:nvSpPr>
        <p:spPr>
          <a:xfrm>
            <a:off x="771525" y="5028158"/>
            <a:ext cx="10648950" cy="152400"/>
          </a:xfrm>
          <a:prstGeom prst="rect">
            <a:avLst/>
          </a:prstGeom>
          <a:noFill/>
          <a:ln>
            <a:noFill/>
          </a:ln>
        </p:spPr>
        <p:txBody>
          <a:bodyPr spcFirstLastPara="1" wrap="square" lIns="171450" tIns="0" rIns="0" bIns="0" anchor="t" anchorCtr="0">
            <a:spAutoFit/>
          </a:bodyPr>
          <a:lstStyle/>
          <a:p>
            <a:pPr marL="0" marR="0" lvl="0" indent="0" algn="l" rtl="0">
              <a:spcBef>
                <a:spcPts val="0"/>
              </a:spcBef>
              <a:spcAft>
                <a:spcPts val="0"/>
              </a:spcAft>
              <a:buNone/>
            </a:pPr>
            <a:r>
              <a:rPr lang="en-US" sz="1012" b="0" i="0" u="none" strike="noStrike" cap="none">
                <a:solidFill>
                  <a:srgbClr val="FFFFFF"/>
                </a:solidFill>
                <a:latin typeface="Inter SemiBold"/>
                <a:ea typeface="Inter SemiBold"/>
                <a:cs typeface="Inter SemiBold"/>
                <a:sym typeface="Inter SemiBold"/>
              </a:rPr>
              <a:t>Spending amounts align closely across both cohorts, highlighting a clear need to improve membership benefits with exclusive packaging and rewards.</a:t>
            </a:r>
            <a:endParaRPr/>
          </a:p>
        </p:txBody>
      </p:sp>
      <p:sp>
        <p:nvSpPr>
          <p:cNvPr id="296" name="Google Shape;296;p23"/>
          <p:cNvSpPr/>
          <p:nvPr/>
        </p:nvSpPr>
        <p:spPr>
          <a:xfrm>
            <a:off x="3271837" y="3067942"/>
            <a:ext cx="38100" cy="1569691"/>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23"/>
          <p:cNvSpPr txBox="1"/>
          <p:nvPr/>
        </p:nvSpPr>
        <p:spPr>
          <a:xfrm>
            <a:off x="838200" y="3277492"/>
            <a:ext cx="4905375"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$59.49</a:t>
            </a:r>
            <a:endParaRPr/>
          </a:p>
        </p:txBody>
      </p:sp>
      <p:sp>
        <p:nvSpPr>
          <p:cNvPr id="298" name="Google Shape;298;p23"/>
          <p:cNvSpPr txBox="1"/>
          <p:nvPr/>
        </p:nvSpPr>
        <p:spPr>
          <a:xfrm>
            <a:off x="838200" y="3751808"/>
            <a:ext cx="4905375"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SUBSCRIPTION SPEND</a:t>
            </a:r>
            <a:endParaRPr/>
          </a:p>
        </p:txBody>
      </p:sp>
      <p:sp>
        <p:nvSpPr>
          <p:cNvPr id="299" name="Google Shape;299;p23"/>
          <p:cNvSpPr txBox="1"/>
          <p:nvPr/>
        </p:nvSpPr>
        <p:spPr>
          <a:xfrm>
            <a:off x="838200" y="3923258"/>
            <a:ext cx="4905375"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64748B"/>
                </a:solidFill>
                <a:latin typeface="Inter"/>
                <a:ea typeface="Inter"/>
                <a:cs typeface="Inter"/>
                <a:sym typeface="Inter"/>
              </a:rPr>
              <a:t>Avg: 1,053 Active Members</a:t>
            </a:r>
            <a:endParaRPr/>
          </a:p>
        </p:txBody>
      </p:sp>
      <p:sp>
        <p:nvSpPr>
          <p:cNvPr id="300" name="Google Shape;300;p23"/>
          <p:cNvSpPr/>
          <p:nvPr/>
        </p:nvSpPr>
        <p:spPr>
          <a:xfrm>
            <a:off x="8882062" y="3067942"/>
            <a:ext cx="38100" cy="1569691"/>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1" name="Google Shape;301;p23"/>
          <p:cNvSpPr txBox="1"/>
          <p:nvPr/>
        </p:nvSpPr>
        <p:spPr>
          <a:xfrm>
            <a:off x="6448425" y="3277492"/>
            <a:ext cx="4905375"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$59.87</a:t>
            </a:r>
            <a:endParaRPr/>
          </a:p>
        </p:txBody>
      </p:sp>
      <p:sp>
        <p:nvSpPr>
          <p:cNvPr id="302" name="Google Shape;302;p23"/>
          <p:cNvSpPr txBox="1"/>
          <p:nvPr/>
        </p:nvSpPr>
        <p:spPr>
          <a:xfrm>
            <a:off x="6448425" y="3751808"/>
            <a:ext cx="4905375"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STANDARD SPEND</a:t>
            </a:r>
            <a:endParaRPr/>
          </a:p>
        </p:txBody>
      </p:sp>
      <p:sp>
        <p:nvSpPr>
          <p:cNvPr id="303" name="Google Shape;303;p23"/>
          <p:cNvSpPr txBox="1"/>
          <p:nvPr/>
        </p:nvSpPr>
        <p:spPr>
          <a:xfrm>
            <a:off x="6448425" y="3923258"/>
            <a:ext cx="4905375"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64748B"/>
                </a:solidFill>
                <a:latin typeface="Inter"/>
                <a:ea typeface="Inter"/>
                <a:cs typeface="Inter"/>
                <a:sym typeface="Inter"/>
              </a:rPr>
              <a:t>Avg: 2,847 Standard Users</a:t>
            </a:r>
            <a:endParaRPr/>
          </a:p>
        </p:txBody>
      </p:sp>
      <p:pic>
        <p:nvPicPr>
          <p:cNvPr id="304" name="Google Shape;304;p23" descr="image.png"/>
          <p:cNvPicPr preferRelativeResize="0"/>
          <p:nvPr/>
        </p:nvPicPr>
        <p:blipFill rotWithShape="1">
          <a:blip r:embed="rId9">
            <a:alphaModFix/>
          </a:blip>
          <a:srcRect/>
          <a:stretch/>
        </p:blipFill>
        <p:spPr>
          <a:xfrm>
            <a:off x="771525" y="5047208"/>
            <a:ext cx="95250" cy="128587"/>
          </a:xfrm>
          <a:prstGeom prst="rect">
            <a:avLst/>
          </a:prstGeom>
          <a:noFill/>
          <a:ln>
            <a:noFill/>
          </a:ln>
        </p:spPr>
      </p:pic>
      <p:sp>
        <p:nvSpPr>
          <p:cNvPr id="305" name="Google Shape;305;p23"/>
          <p:cNvSpPr txBox="1"/>
          <p:nvPr/>
        </p:nvSpPr>
        <p:spPr>
          <a:xfrm>
            <a:off x="838200" y="4275683"/>
            <a:ext cx="4905375"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FFFFFF"/>
                </a:solidFill>
                <a:latin typeface="Inter SemiBold"/>
                <a:ea typeface="Inter SemiBold"/>
                <a:cs typeface="Inter SemiBold"/>
                <a:sym typeface="Inter SemiBold"/>
              </a:rPr>
              <a:t>Total: $62,645.00</a:t>
            </a:r>
            <a:endParaRPr/>
          </a:p>
        </p:txBody>
      </p:sp>
      <p:sp>
        <p:nvSpPr>
          <p:cNvPr id="306" name="Google Shape;306;p23"/>
          <p:cNvSpPr txBox="1"/>
          <p:nvPr/>
        </p:nvSpPr>
        <p:spPr>
          <a:xfrm>
            <a:off x="6448425" y="4275683"/>
            <a:ext cx="4905375" cy="15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75" b="0" i="0" u="none" strike="noStrike" cap="none">
                <a:solidFill>
                  <a:srgbClr val="FFFFFF"/>
                </a:solidFill>
                <a:latin typeface="Inter SemiBold"/>
                <a:ea typeface="Inter SemiBold"/>
                <a:cs typeface="Inter SemiBold"/>
                <a:sym typeface="Inter SemiBold"/>
              </a:rPr>
              <a:t>Total: $170,436.00</a:t>
            </a:r>
            <a:endParaRPr/>
          </a:p>
        </p:txBody>
      </p:sp>
      <p:sp>
        <p:nvSpPr>
          <p:cNvPr id="307" name="Google Shape;307;p23"/>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Recurring Revenue</a:t>
            </a:r>
            <a:endParaRPr/>
          </a:p>
        </p:txBody>
      </p:sp>
      <p:sp>
        <p:nvSpPr>
          <p:cNvPr id="308" name="Google Shape;308;p23"/>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Subscription </a:t>
            </a:r>
            <a:r>
              <a:rPr lang="en-US" sz="2550" b="0" i="0" u="none" strike="noStrike" cap="none">
                <a:solidFill>
                  <a:srgbClr val="D9A05B"/>
                </a:solidFill>
                <a:latin typeface="Montserrat ExtraBold"/>
                <a:ea typeface="Montserrat ExtraBold"/>
                <a:cs typeface="Montserrat ExtraBold"/>
                <a:sym typeface="Montserrat ExtraBold"/>
              </a:rPr>
              <a:t>Analysis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2"/>
        <p:cNvGrpSpPr/>
        <p:nvPr/>
      </p:nvGrpSpPr>
      <p:grpSpPr>
        <a:xfrm>
          <a:off x="0" y="0"/>
          <a:ext cx="0" cy="0"/>
          <a:chOff x="0" y="0"/>
          <a:chExt cx="0" cy="0"/>
        </a:xfrm>
      </p:grpSpPr>
      <p:pic>
        <p:nvPicPr>
          <p:cNvPr id="313" name="Google Shape;313;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14" name="Google Shape;314;p24" descr="image.png"/>
          <p:cNvPicPr preferRelativeResize="0"/>
          <p:nvPr/>
        </p:nvPicPr>
        <p:blipFill rotWithShape="1">
          <a:blip r:embed="rId4">
            <a:alphaModFix/>
          </a:blip>
          <a:srcRect/>
          <a:stretch/>
        </p:blipFill>
        <p:spPr>
          <a:xfrm>
            <a:off x="581025" y="3202483"/>
            <a:ext cx="11029950" cy="1510307"/>
          </a:xfrm>
          <a:prstGeom prst="rect">
            <a:avLst/>
          </a:prstGeom>
          <a:noFill/>
          <a:ln>
            <a:noFill/>
          </a:ln>
        </p:spPr>
      </p:pic>
      <p:pic>
        <p:nvPicPr>
          <p:cNvPr id="315" name="Google Shape;315;p24" descr="image.png"/>
          <p:cNvPicPr preferRelativeResize="0"/>
          <p:nvPr/>
        </p:nvPicPr>
        <p:blipFill rotWithShape="1">
          <a:blip r:embed="rId5">
            <a:alphaModFix/>
          </a:blip>
          <a:srcRect/>
          <a:stretch/>
        </p:blipFill>
        <p:spPr>
          <a:xfrm>
            <a:off x="10315575" y="485775"/>
            <a:ext cx="1295400" cy="228600"/>
          </a:xfrm>
          <a:prstGeom prst="rect">
            <a:avLst/>
          </a:prstGeom>
          <a:noFill/>
          <a:ln>
            <a:noFill/>
          </a:ln>
        </p:spPr>
      </p:pic>
      <p:sp>
        <p:nvSpPr>
          <p:cNvPr id="316" name="Google Shape;316;p24"/>
          <p:cNvSpPr txBox="1"/>
          <p:nvPr/>
        </p:nvSpPr>
        <p:spPr>
          <a:xfrm>
            <a:off x="6334125" y="3202483"/>
            <a:ext cx="5540692"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a:solidFill>
                  <a:srgbClr val="14B8A6"/>
                </a:solidFill>
                <a:latin typeface="Montserrat"/>
                <a:ea typeface="Montserrat"/>
                <a:cs typeface="Montserrat"/>
                <a:sym typeface="Montserrat"/>
              </a:rPr>
              <a:t>Reviewing Promotional Policies</a:t>
            </a:r>
            <a:endParaRPr/>
          </a:p>
        </p:txBody>
      </p:sp>
      <p:sp>
        <p:nvSpPr>
          <p:cNvPr id="317" name="Google Shape;317;p24"/>
          <p:cNvSpPr txBox="1"/>
          <p:nvPr/>
        </p:nvSpPr>
        <p:spPr>
          <a:xfrm>
            <a:off x="6334125" y="3573958"/>
            <a:ext cx="5276850" cy="426541"/>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4A3B8"/>
                </a:solidFill>
                <a:latin typeface="Inter"/>
                <a:ea typeface="Inter"/>
                <a:cs typeface="Inter"/>
                <a:sym typeface="Inter"/>
              </a:rPr>
              <a:t>Several core product segments, including hats and footwear, show a high dependency on discount campaigns to drive transaction volume.</a:t>
            </a:r>
            <a:endParaRPr/>
          </a:p>
        </p:txBody>
      </p:sp>
      <p:sp>
        <p:nvSpPr>
          <p:cNvPr id="318" name="Google Shape;318;p24"/>
          <p:cNvSpPr txBox="1"/>
          <p:nvPr/>
        </p:nvSpPr>
        <p:spPr>
          <a:xfrm>
            <a:off x="6334125" y="4143375"/>
            <a:ext cx="5276850" cy="426541"/>
          </a:xfrm>
          <a:prstGeom prst="rect">
            <a:avLst/>
          </a:prstGeom>
          <a:noFill/>
          <a:ln>
            <a:noFill/>
          </a:ln>
        </p:spPr>
        <p:txBody>
          <a:bodyPr spcFirstLastPara="1" wrap="square" lIns="0" tIns="0" rIns="0" bIns="0" anchor="t" anchorCtr="0">
            <a:spAutoFit/>
          </a:bodyPr>
          <a:lstStyle/>
          <a:p>
            <a:pPr marL="0" marR="0" lvl="0" indent="0" algn="l" rtl="0">
              <a:lnSpc>
                <a:spcPct val="159904"/>
              </a:lnSpc>
              <a:spcBef>
                <a:spcPts val="0"/>
              </a:spcBef>
              <a:spcAft>
                <a:spcPts val="0"/>
              </a:spcAft>
              <a:buNone/>
            </a:pPr>
            <a:r>
              <a:rPr lang="en-US" sz="1050" b="0" i="0" u="none" strike="noStrike" cap="none">
                <a:solidFill>
                  <a:srgbClr val="94A3B8"/>
                </a:solidFill>
                <a:latin typeface="Inter"/>
                <a:ea typeface="Inter"/>
                <a:cs typeface="Inter"/>
                <a:sym typeface="Inter"/>
              </a:rPr>
              <a:t>Over half of all hat transactions rely on discount codes. Gradually shifting these lines toward value-add bundles can help protect core pricing margins.</a:t>
            </a:r>
            <a:endParaRPr/>
          </a:p>
        </p:txBody>
      </p:sp>
      <p:sp>
        <p:nvSpPr>
          <p:cNvPr id="319" name="Google Shape;319;p24"/>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Promotional Elasticity</a:t>
            </a:r>
            <a:endParaRPr/>
          </a:p>
        </p:txBody>
      </p:sp>
      <p:sp>
        <p:nvSpPr>
          <p:cNvPr id="320" name="Google Shape;320;p24"/>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Discount </a:t>
            </a:r>
            <a:r>
              <a:rPr lang="en-US" sz="2550" b="0" i="0" u="none" strike="noStrike" cap="none">
                <a:solidFill>
                  <a:srgbClr val="D9A05B"/>
                </a:solidFill>
                <a:latin typeface="Montserrat ExtraBold"/>
                <a:ea typeface="Montserrat ExtraBold"/>
                <a:cs typeface="Montserrat ExtraBold"/>
                <a:sym typeface="Montserrat ExtraBold"/>
              </a:rPr>
              <a:t>Dependencies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4"/>
        <p:cNvGrpSpPr/>
        <p:nvPr/>
      </p:nvGrpSpPr>
      <p:grpSpPr>
        <a:xfrm>
          <a:off x="0" y="0"/>
          <a:ext cx="0" cy="0"/>
          <a:chOff x="0" y="0"/>
          <a:chExt cx="0" cy="0"/>
        </a:xfrm>
      </p:grpSpPr>
      <p:pic>
        <p:nvPicPr>
          <p:cNvPr id="325" name="Google Shape;325;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26" name="Google Shape;326;p25" descr="image.png"/>
          <p:cNvPicPr preferRelativeResize="0"/>
          <p:nvPr/>
        </p:nvPicPr>
        <p:blipFill rotWithShape="1">
          <a:blip r:embed="rId4">
            <a:alphaModFix/>
          </a:blip>
          <a:srcRect/>
          <a:stretch/>
        </p:blipFill>
        <p:spPr>
          <a:xfrm>
            <a:off x="581025" y="4813845"/>
            <a:ext cx="5276850" cy="438150"/>
          </a:xfrm>
          <a:prstGeom prst="rect">
            <a:avLst/>
          </a:prstGeom>
          <a:noFill/>
          <a:ln>
            <a:noFill/>
          </a:ln>
        </p:spPr>
      </p:pic>
      <p:pic>
        <p:nvPicPr>
          <p:cNvPr id="327" name="Google Shape;327;p25" descr="image.png"/>
          <p:cNvPicPr preferRelativeResize="0"/>
          <p:nvPr/>
        </p:nvPicPr>
        <p:blipFill rotWithShape="1">
          <a:blip r:embed="rId5">
            <a:alphaModFix/>
          </a:blip>
          <a:srcRect/>
          <a:stretch/>
        </p:blipFill>
        <p:spPr>
          <a:xfrm>
            <a:off x="581025" y="3358455"/>
            <a:ext cx="2543175" cy="1217265"/>
          </a:xfrm>
          <a:prstGeom prst="rect">
            <a:avLst/>
          </a:prstGeom>
          <a:noFill/>
          <a:ln>
            <a:noFill/>
          </a:ln>
        </p:spPr>
      </p:pic>
      <p:pic>
        <p:nvPicPr>
          <p:cNvPr id="328" name="Google Shape;328;p25" descr="image.png"/>
          <p:cNvPicPr preferRelativeResize="0"/>
          <p:nvPr/>
        </p:nvPicPr>
        <p:blipFill rotWithShape="1">
          <a:blip r:embed="rId6">
            <a:alphaModFix/>
          </a:blip>
          <a:srcRect/>
          <a:stretch/>
        </p:blipFill>
        <p:spPr>
          <a:xfrm>
            <a:off x="3314700" y="3358455"/>
            <a:ext cx="2543175" cy="1217265"/>
          </a:xfrm>
          <a:prstGeom prst="rect">
            <a:avLst/>
          </a:prstGeom>
          <a:noFill/>
          <a:ln>
            <a:noFill/>
          </a:ln>
        </p:spPr>
      </p:pic>
      <p:pic>
        <p:nvPicPr>
          <p:cNvPr id="329" name="Google Shape;329;p25" descr="image.png"/>
          <p:cNvPicPr preferRelativeResize="0"/>
          <p:nvPr/>
        </p:nvPicPr>
        <p:blipFill rotWithShape="1">
          <a:blip r:embed="rId7">
            <a:alphaModFix/>
          </a:blip>
          <a:srcRect/>
          <a:stretch/>
        </p:blipFill>
        <p:spPr>
          <a:xfrm>
            <a:off x="10182225" y="485775"/>
            <a:ext cx="1428750" cy="228600"/>
          </a:xfrm>
          <a:prstGeom prst="rect">
            <a:avLst/>
          </a:prstGeom>
          <a:noFill/>
          <a:ln>
            <a:noFill/>
          </a:ln>
        </p:spPr>
      </p:pic>
      <p:sp>
        <p:nvSpPr>
          <p:cNvPr id="330" name="Google Shape;330;p25"/>
          <p:cNvSpPr txBox="1"/>
          <p:nvPr/>
        </p:nvSpPr>
        <p:spPr>
          <a:xfrm>
            <a:off x="581025" y="2663130"/>
            <a:ext cx="5276850" cy="4572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0" i="0" u="none" strike="noStrike" cap="none">
                <a:solidFill>
                  <a:srgbClr val="94A3B8"/>
                </a:solidFill>
                <a:latin typeface="Inter"/>
                <a:ea typeface="Inter"/>
                <a:cs typeface="Inter"/>
                <a:sym typeface="Inter"/>
              </a:rPr>
              <a:t>Evaluating transaction values across standard and expedited shipping options highlights clear differences in customer price sensitivity.</a:t>
            </a:r>
            <a:endParaRPr/>
          </a:p>
        </p:txBody>
      </p:sp>
      <p:pic>
        <p:nvPicPr>
          <p:cNvPr id="331" name="Google Shape;331;p25" descr="image.png"/>
          <p:cNvPicPr preferRelativeResize="0"/>
          <p:nvPr/>
        </p:nvPicPr>
        <p:blipFill rotWithShape="1">
          <a:blip r:embed="rId8">
            <a:alphaModFix/>
          </a:blip>
          <a:srcRect/>
          <a:stretch/>
        </p:blipFill>
        <p:spPr>
          <a:xfrm>
            <a:off x="6334125" y="2147887"/>
            <a:ext cx="5276850" cy="3619500"/>
          </a:xfrm>
          <a:prstGeom prst="rect">
            <a:avLst/>
          </a:prstGeom>
          <a:noFill/>
          <a:ln>
            <a:noFill/>
          </a:ln>
        </p:spPr>
      </p:pic>
      <p:sp>
        <p:nvSpPr>
          <p:cNvPr id="332" name="Google Shape;332;p25"/>
          <p:cNvSpPr txBox="1"/>
          <p:nvPr/>
        </p:nvSpPr>
        <p:spPr>
          <a:xfrm>
            <a:off x="771525" y="4956720"/>
            <a:ext cx="4895850" cy="152400"/>
          </a:xfrm>
          <a:prstGeom prst="rect">
            <a:avLst/>
          </a:prstGeom>
          <a:noFill/>
          <a:ln>
            <a:noFill/>
          </a:ln>
        </p:spPr>
        <p:txBody>
          <a:bodyPr spcFirstLastPara="1" wrap="square" lIns="209550" tIns="0" rIns="0" bIns="0" anchor="t" anchorCtr="0">
            <a:spAutoFit/>
          </a:bodyPr>
          <a:lstStyle/>
          <a:p>
            <a:pPr marL="0" marR="0" lvl="0" indent="0" algn="l" rtl="0">
              <a:spcBef>
                <a:spcPts val="0"/>
              </a:spcBef>
              <a:spcAft>
                <a:spcPts val="0"/>
              </a:spcAft>
              <a:buNone/>
            </a:pPr>
            <a:r>
              <a:rPr lang="en-US" sz="1012" b="0" i="0" u="none" strike="noStrike" cap="none">
                <a:solidFill>
                  <a:srgbClr val="FFFFFF"/>
                </a:solidFill>
                <a:latin typeface="Inter SemiBold"/>
                <a:ea typeface="Inter SemiBold"/>
                <a:cs typeface="Inter SemiBold"/>
                <a:sym typeface="Inter SemiBold"/>
              </a:rPr>
              <a:t>Express delivery customers display a higher willingness to spend.</a:t>
            </a:r>
            <a:endParaRPr/>
          </a:p>
        </p:txBody>
      </p:sp>
      <p:sp>
        <p:nvSpPr>
          <p:cNvPr id="333" name="Google Shape;333;p25"/>
          <p:cNvSpPr/>
          <p:nvPr/>
        </p:nvSpPr>
        <p:spPr>
          <a:xfrm>
            <a:off x="2468562" y="3367979"/>
            <a:ext cx="38100" cy="1198216"/>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4" name="Google Shape;334;p25"/>
          <p:cNvSpPr txBox="1"/>
          <p:nvPr/>
        </p:nvSpPr>
        <p:spPr>
          <a:xfrm>
            <a:off x="838200" y="3577530"/>
            <a:ext cx="2028825"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$60.48</a:t>
            </a:r>
            <a:endParaRPr/>
          </a:p>
        </p:txBody>
      </p:sp>
      <p:sp>
        <p:nvSpPr>
          <p:cNvPr id="335" name="Google Shape;335;p25"/>
          <p:cNvSpPr txBox="1"/>
          <p:nvPr/>
        </p:nvSpPr>
        <p:spPr>
          <a:xfrm>
            <a:off x="838200" y="4051845"/>
            <a:ext cx="2028825"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EXPRESS DELIVERY</a:t>
            </a:r>
            <a:endParaRPr/>
          </a:p>
        </p:txBody>
      </p:sp>
      <p:sp>
        <p:nvSpPr>
          <p:cNvPr id="336" name="Google Shape;336;p25"/>
          <p:cNvSpPr txBox="1"/>
          <p:nvPr/>
        </p:nvSpPr>
        <p:spPr>
          <a:xfrm>
            <a:off x="838200" y="4223295"/>
            <a:ext cx="2028825"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64748B"/>
                </a:solidFill>
                <a:latin typeface="Inter"/>
                <a:ea typeface="Inter"/>
                <a:cs typeface="Inter"/>
                <a:sym typeface="Inter"/>
              </a:rPr>
              <a:t>Average purchase size</a:t>
            </a:r>
            <a:endParaRPr/>
          </a:p>
        </p:txBody>
      </p:sp>
      <p:sp>
        <p:nvSpPr>
          <p:cNvPr id="337" name="Google Shape;337;p25"/>
          <p:cNvSpPr/>
          <p:nvPr/>
        </p:nvSpPr>
        <p:spPr>
          <a:xfrm>
            <a:off x="5210704" y="3376537"/>
            <a:ext cx="38100" cy="1198216"/>
          </a:xfrm>
          <a:prstGeom prst="rect">
            <a:avLst/>
          </a:prstGeom>
          <a:solidFill>
            <a:srgbClr val="D9A05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8" name="Google Shape;338;p25"/>
          <p:cNvSpPr txBox="1"/>
          <p:nvPr/>
        </p:nvSpPr>
        <p:spPr>
          <a:xfrm>
            <a:off x="3571875" y="3577530"/>
            <a:ext cx="2028825" cy="39811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2850" b="0" i="0" u="none" strike="noStrike" cap="none">
                <a:solidFill>
                  <a:srgbClr val="FFFFFF"/>
                </a:solidFill>
                <a:latin typeface="Montserrat ExtraBold"/>
                <a:ea typeface="Montserrat ExtraBold"/>
                <a:cs typeface="Montserrat ExtraBold"/>
                <a:sym typeface="Montserrat ExtraBold"/>
              </a:rPr>
              <a:t>$58.46</a:t>
            </a:r>
            <a:endParaRPr/>
          </a:p>
        </p:txBody>
      </p:sp>
      <p:sp>
        <p:nvSpPr>
          <p:cNvPr id="339" name="Google Shape;339;p25"/>
          <p:cNvSpPr txBox="1"/>
          <p:nvPr/>
        </p:nvSpPr>
        <p:spPr>
          <a:xfrm>
            <a:off x="3571875" y="4051845"/>
            <a:ext cx="2028825"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94A3B8"/>
                </a:solidFill>
                <a:latin typeface="Inter SemiBold"/>
                <a:ea typeface="Inter SemiBold"/>
                <a:cs typeface="Inter SemiBold"/>
                <a:sym typeface="Inter SemiBold"/>
              </a:rPr>
              <a:t>STANDARD DELIVERY</a:t>
            </a:r>
            <a:endParaRPr/>
          </a:p>
        </p:txBody>
      </p:sp>
      <p:sp>
        <p:nvSpPr>
          <p:cNvPr id="340" name="Google Shape;340;p25"/>
          <p:cNvSpPr txBox="1"/>
          <p:nvPr/>
        </p:nvSpPr>
        <p:spPr>
          <a:xfrm>
            <a:off x="3571875" y="4223295"/>
            <a:ext cx="2028825" cy="1333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825" b="0" i="0" u="none" strike="noStrike" cap="none">
                <a:solidFill>
                  <a:srgbClr val="64748B"/>
                </a:solidFill>
                <a:latin typeface="Inter"/>
                <a:ea typeface="Inter"/>
                <a:cs typeface="Inter"/>
                <a:sym typeface="Inter"/>
              </a:rPr>
              <a:t>Average purchase size</a:t>
            </a:r>
            <a:endParaRPr/>
          </a:p>
        </p:txBody>
      </p:sp>
      <p:pic>
        <p:nvPicPr>
          <p:cNvPr id="341" name="Google Shape;341;p25" descr="image.png"/>
          <p:cNvPicPr preferRelativeResize="0"/>
          <p:nvPr/>
        </p:nvPicPr>
        <p:blipFill rotWithShape="1">
          <a:blip r:embed="rId9">
            <a:alphaModFix/>
          </a:blip>
          <a:srcRect/>
          <a:stretch/>
        </p:blipFill>
        <p:spPr>
          <a:xfrm>
            <a:off x="771525" y="4975770"/>
            <a:ext cx="133350" cy="128587"/>
          </a:xfrm>
          <a:prstGeom prst="rect">
            <a:avLst/>
          </a:prstGeom>
          <a:noFill/>
          <a:ln>
            <a:noFill/>
          </a:ln>
        </p:spPr>
      </p:pic>
      <p:sp>
        <p:nvSpPr>
          <p:cNvPr id="342" name="Google Shape;342;p25"/>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Fulfilment Channels</a:t>
            </a:r>
            <a:endParaRPr/>
          </a:p>
        </p:txBody>
      </p:sp>
      <p:sp>
        <p:nvSpPr>
          <p:cNvPr id="343" name="Google Shape;343;p25"/>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Shipping </a:t>
            </a:r>
            <a:r>
              <a:rPr lang="en-US" sz="2550" b="0" i="0" u="none" strike="noStrike" cap="none">
                <a:solidFill>
                  <a:srgbClr val="D9A05B"/>
                </a:solidFill>
                <a:latin typeface="Montserrat ExtraBold"/>
                <a:ea typeface="Montserrat ExtraBold"/>
                <a:cs typeface="Montserrat ExtraBold"/>
                <a:sym typeface="Montserrat ExtraBold"/>
              </a:rPr>
              <a:t>Type Comparison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47"/>
        <p:cNvGrpSpPr/>
        <p:nvPr/>
      </p:nvGrpSpPr>
      <p:grpSpPr>
        <a:xfrm>
          <a:off x="0" y="0"/>
          <a:ext cx="0" cy="0"/>
          <a:chOff x="0" y="0"/>
          <a:chExt cx="0" cy="0"/>
        </a:xfrm>
      </p:grpSpPr>
      <p:pic>
        <p:nvPicPr>
          <p:cNvPr id="348" name="Google Shape;348;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49" name="Google Shape;349;p26" descr="image.png"/>
          <p:cNvPicPr preferRelativeResize="0"/>
          <p:nvPr/>
        </p:nvPicPr>
        <p:blipFill rotWithShape="1">
          <a:blip r:embed="rId4">
            <a:alphaModFix/>
          </a:blip>
          <a:srcRect/>
          <a:stretch/>
        </p:blipFill>
        <p:spPr>
          <a:xfrm>
            <a:off x="581025" y="2147887"/>
            <a:ext cx="5276850" cy="3619500"/>
          </a:xfrm>
          <a:prstGeom prst="rect">
            <a:avLst/>
          </a:prstGeom>
          <a:noFill/>
          <a:ln>
            <a:noFill/>
          </a:ln>
        </p:spPr>
      </p:pic>
      <p:pic>
        <p:nvPicPr>
          <p:cNvPr id="350" name="Google Shape;350;p26" descr="image.png"/>
          <p:cNvPicPr preferRelativeResize="0"/>
          <p:nvPr/>
        </p:nvPicPr>
        <p:blipFill rotWithShape="1">
          <a:blip r:embed="rId5">
            <a:alphaModFix/>
          </a:blip>
          <a:srcRect/>
          <a:stretch/>
        </p:blipFill>
        <p:spPr>
          <a:xfrm>
            <a:off x="733425" y="2300287"/>
            <a:ext cx="1714500" cy="3314700"/>
          </a:xfrm>
          <a:prstGeom prst="rect">
            <a:avLst/>
          </a:prstGeom>
          <a:noFill/>
          <a:ln>
            <a:noFill/>
          </a:ln>
        </p:spPr>
      </p:pic>
      <p:pic>
        <p:nvPicPr>
          <p:cNvPr id="351" name="Google Shape;351;p26" descr="image.png"/>
          <p:cNvPicPr preferRelativeResize="0"/>
          <p:nvPr/>
        </p:nvPicPr>
        <p:blipFill rotWithShape="1">
          <a:blip r:embed="rId6">
            <a:alphaModFix/>
          </a:blip>
          <a:srcRect/>
          <a:stretch/>
        </p:blipFill>
        <p:spPr>
          <a:xfrm>
            <a:off x="4171950" y="2967037"/>
            <a:ext cx="1533525" cy="2647950"/>
          </a:xfrm>
          <a:prstGeom prst="rect">
            <a:avLst/>
          </a:prstGeom>
          <a:noFill/>
          <a:ln>
            <a:noFill/>
          </a:ln>
        </p:spPr>
      </p:pic>
      <p:pic>
        <p:nvPicPr>
          <p:cNvPr id="352" name="Google Shape;352;p26" descr="image.png"/>
          <p:cNvPicPr preferRelativeResize="0"/>
          <p:nvPr/>
        </p:nvPicPr>
        <p:blipFill rotWithShape="1">
          <a:blip r:embed="rId7">
            <a:alphaModFix/>
          </a:blip>
          <a:srcRect/>
          <a:stretch/>
        </p:blipFill>
        <p:spPr>
          <a:xfrm>
            <a:off x="847725" y="2595562"/>
            <a:ext cx="1485900" cy="180975"/>
          </a:xfrm>
          <a:prstGeom prst="rect">
            <a:avLst/>
          </a:prstGeom>
          <a:noFill/>
          <a:ln>
            <a:noFill/>
          </a:ln>
        </p:spPr>
      </p:pic>
      <p:pic>
        <p:nvPicPr>
          <p:cNvPr id="353" name="Google Shape;353;p26" descr="image.png"/>
          <p:cNvPicPr preferRelativeResize="0"/>
          <p:nvPr/>
        </p:nvPicPr>
        <p:blipFill rotWithShape="1">
          <a:blip r:embed="rId8">
            <a:alphaModFix/>
          </a:blip>
          <a:srcRect/>
          <a:stretch/>
        </p:blipFill>
        <p:spPr>
          <a:xfrm>
            <a:off x="847725" y="2852737"/>
            <a:ext cx="1485900" cy="180975"/>
          </a:xfrm>
          <a:prstGeom prst="rect">
            <a:avLst/>
          </a:prstGeom>
          <a:noFill/>
          <a:ln>
            <a:noFill/>
          </a:ln>
        </p:spPr>
      </p:pic>
      <p:pic>
        <p:nvPicPr>
          <p:cNvPr id="354" name="Google Shape;354;p26" descr="image.png"/>
          <p:cNvPicPr preferRelativeResize="0"/>
          <p:nvPr/>
        </p:nvPicPr>
        <p:blipFill rotWithShape="1">
          <a:blip r:embed="rId9">
            <a:alphaModFix/>
          </a:blip>
          <a:srcRect/>
          <a:stretch/>
        </p:blipFill>
        <p:spPr>
          <a:xfrm>
            <a:off x="847725" y="3109912"/>
            <a:ext cx="1485900" cy="180975"/>
          </a:xfrm>
          <a:prstGeom prst="rect">
            <a:avLst/>
          </a:prstGeom>
          <a:noFill/>
          <a:ln>
            <a:noFill/>
          </a:ln>
        </p:spPr>
      </p:pic>
      <p:pic>
        <p:nvPicPr>
          <p:cNvPr id="355" name="Google Shape;355;p26" descr="image.png"/>
          <p:cNvPicPr preferRelativeResize="0"/>
          <p:nvPr/>
        </p:nvPicPr>
        <p:blipFill rotWithShape="1">
          <a:blip r:embed="rId10">
            <a:alphaModFix/>
          </a:blip>
          <a:srcRect/>
          <a:stretch/>
        </p:blipFill>
        <p:spPr>
          <a:xfrm>
            <a:off x="2543175" y="2300287"/>
            <a:ext cx="1533525" cy="571500"/>
          </a:xfrm>
          <a:prstGeom prst="rect">
            <a:avLst/>
          </a:prstGeom>
          <a:noFill/>
          <a:ln>
            <a:noFill/>
          </a:ln>
        </p:spPr>
      </p:pic>
      <p:pic>
        <p:nvPicPr>
          <p:cNvPr id="356" name="Google Shape;356;p26" descr="image.png"/>
          <p:cNvPicPr preferRelativeResize="0"/>
          <p:nvPr/>
        </p:nvPicPr>
        <p:blipFill rotWithShape="1">
          <a:blip r:embed="rId11">
            <a:alphaModFix/>
          </a:blip>
          <a:srcRect/>
          <a:stretch/>
        </p:blipFill>
        <p:spPr>
          <a:xfrm>
            <a:off x="4171950" y="2300287"/>
            <a:ext cx="1533525" cy="571500"/>
          </a:xfrm>
          <a:prstGeom prst="rect">
            <a:avLst/>
          </a:prstGeom>
          <a:noFill/>
          <a:ln>
            <a:noFill/>
          </a:ln>
        </p:spPr>
      </p:pic>
      <p:pic>
        <p:nvPicPr>
          <p:cNvPr id="357" name="Google Shape;357;p26" descr="image.png"/>
          <p:cNvPicPr preferRelativeResize="0"/>
          <p:nvPr/>
        </p:nvPicPr>
        <p:blipFill rotWithShape="1">
          <a:blip r:embed="rId12">
            <a:alphaModFix/>
          </a:blip>
          <a:srcRect/>
          <a:stretch/>
        </p:blipFill>
        <p:spPr>
          <a:xfrm>
            <a:off x="10163175" y="485775"/>
            <a:ext cx="1447800" cy="228600"/>
          </a:xfrm>
          <a:prstGeom prst="rect">
            <a:avLst/>
          </a:prstGeom>
          <a:noFill/>
          <a:ln>
            <a:noFill/>
          </a:ln>
        </p:spPr>
      </p:pic>
      <p:sp>
        <p:nvSpPr>
          <p:cNvPr id="358" name="Google Shape;358;p26"/>
          <p:cNvSpPr txBox="1"/>
          <p:nvPr/>
        </p:nvSpPr>
        <p:spPr>
          <a:xfrm>
            <a:off x="6334125" y="3211115"/>
            <a:ext cx="5276850" cy="2095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Montserrat"/>
                <a:ea typeface="Montserrat"/>
                <a:cs typeface="Montserrat"/>
                <a:sym typeface="Montserrat"/>
              </a:rPr>
              <a:t>Interactive Portfolio Dashboard</a:t>
            </a:r>
            <a:endParaRPr/>
          </a:p>
        </p:txBody>
      </p:sp>
      <p:sp>
        <p:nvSpPr>
          <p:cNvPr id="359" name="Google Shape;359;p26"/>
          <p:cNvSpPr txBox="1"/>
          <p:nvPr/>
        </p:nvSpPr>
        <p:spPr>
          <a:xfrm>
            <a:off x="6334125" y="3534965"/>
            <a:ext cx="5276850" cy="441721"/>
          </a:xfrm>
          <a:prstGeom prst="rect">
            <a:avLst/>
          </a:prstGeom>
          <a:noFill/>
          <a:ln>
            <a:noFill/>
          </a:ln>
        </p:spPr>
        <p:txBody>
          <a:bodyPr spcFirstLastPara="1" wrap="square" lIns="0" tIns="0" rIns="0" bIns="0" anchor="t" anchorCtr="0">
            <a:spAutoFit/>
          </a:bodyPr>
          <a:lstStyle/>
          <a:p>
            <a:pPr marL="0" marR="0" lvl="0" indent="0" algn="l" rtl="0">
              <a:lnSpc>
                <a:spcPct val="159981"/>
              </a:lnSpc>
              <a:spcBef>
                <a:spcPts val="0"/>
              </a:spcBef>
              <a:spcAft>
                <a:spcPts val="0"/>
              </a:spcAft>
              <a:buNone/>
            </a:pPr>
            <a:r>
              <a:rPr lang="en-US" sz="1087" b="0" i="0" u="none" strike="noStrike" cap="none">
                <a:solidFill>
                  <a:srgbClr val="94A3B8"/>
                </a:solidFill>
                <a:latin typeface="Inter"/>
                <a:ea typeface="Inter"/>
                <a:cs typeface="Inter"/>
                <a:sym typeface="Inter"/>
              </a:rPr>
              <a:t>Our business intelligence suite displays key performance indicators, segment filters, and demographic dimensions in a unified dashboard.</a:t>
            </a:r>
            <a:endParaRPr/>
          </a:p>
        </p:txBody>
      </p:sp>
      <p:sp>
        <p:nvSpPr>
          <p:cNvPr id="360" name="Google Shape;360;p26"/>
          <p:cNvSpPr txBox="1"/>
          <p:nvPr/>
        </p:nvSpPr>
        <p:spPr>
          <a:xfrm>
            <a:off x="6334125" y="4119562"/>
            <a:ext cx="5276850" cy="441721"/>
          </a:xfrm>
          <a:prstGeom prst="rect">
            <a:avLst/>
          </a:prstGeom>
          <a:noFill/>
          <a:ln>
            <a:noFill/>
          </a:ln>
        </p:spPr>
        <p:txBody>
          <a:bodyPr spcFirstLastPara="1" wrap="square" lIns="0" tIns="0" rIns="0" bIns="0" anchor="t" anchorCtr="0">
            <a:spAutoFit/>
          </a:bodyPr>
          <a:lstStyle/>
          <a:p>
            <a:pPr marL="0" marR="0" lvl="0" indent="0" algn="l" rtl="0">
              <a:lnSpc>
                <a:spcPct val="159981"/>
              </a:lnSpc>
              <a:spcBef>
                <a:spcPts val="0"/>
              </a:spcBef>
              <a:spcAft>
                <a:spcPts val="0"/>
              </a:spcAft>
              <a:buNone/>
            </a:pPr>
            <a:r>
              <a:rPr lang="en-US" sz="1087" b="0" i="0" u="none" strike="noStrike" cap="none">
                <a:solidFill>
                  <a:srgbClr val="94A3B8"/>
                </a:solidFill>
                <a:latin typeface="Inter"/>
                <a:ea typeface="Inter"/>
                <a:cs typeface="Inter"/>
                <a:sym typeface="Inter"/>
              </a:rPr>
              <a:t>Users can easily explore regional categories, discount dependencies, and purchase frequencies to inform marketing and product placement decisions.</a:t>
            </a:r>
            <a:endParaRPr/>
          </a:p>
        </p:txBody>
      </p:sp>
      <p:sp>
        <p:nvSpPr>
          <p:cNvPr id="361" name="Google Shape;361;p26"/>
          <p:cNvSpPr txBox="1"/>
          <p:nvPr/>
        </p:nvSpPr>
        <p:spPr>
          <a:xfrm>
            <a:off x="847725" y="2414587"/>
            <a:ext cx="1485900" cy="104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675" b="1" i="0" u="none" strike="noStrike" cap="none">
                <a:solidFill>
                  <a:srgbClr val="FFFFFF"/>
                </a:solidFill>
                <a:latin typeface="Inter"/>
                <a:ea typeface="Inter"/>
                <a:cs typeface="Inter"/>
                <a:sym typeface="Inter"/>
              </a:rPr>
              <a:t>FILTERS</a:t>
            </a:r>
            <a:endParaRPr/>
          </a:p>
        </p:txBody>
      </p:sp>
      <p:sp>
        <p:nvSpPr>
          <p:cNvPr id="362" name="Google Shape;362;p26"/>
          <p:cNvSpPr txBox="1"/>
          <p:nvPr/>
        </p:nvSpPr>
        <p:spPr>
          <a:xfrm>
            <a:off x="4286250" y="3081337"/>
            <a:ext cx="1370171" cy="114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750" b="1" i="0" u="none" strike="noStrike" cap="none">
                <a:solidFill>
                  <a:srgbClr val="94A3B8"/>
                </a:solidFill>
                <a:latin typeface="Inter"/>
                <a:ea typeface="Inter"/>
                <a:cs typeface="Inter"/>
                <a:sym typeface="Inter"/>
              </a:rPr>
              <a:t>REVENUE BY AGE GROUP</a:t>
            </a:r>
            <a:endParaRPr/>
          </a:p>
        </p:txBody>
      </p:sp>
      <p:sp>
        <p:nvSpPr>
          <p:cNvPr id="363" name="Google Shape;363;p26"/>
          <p:cNvSpPr/>
          <p:nvPr/>
        </p:nvSpPr>
        <p:spPr>
          <a:xfrm>
            <a:off x="4286250" y="4643437"/>
            <a:ext cx="384125" cy="857250"/>
          </a:xfrm>
          <a:prstGeom prst="rect">
            <a:avLst/>
          </a:prstGeom>
          <a:solidFill>
            <a:srgbClr val="2563E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4" name="Google Shape;364;p26"/>
          <p:cNvSpPr/>
          <p:nvPr/>
        </p:nvSpPr>
        <p:spPr>
          <a:xfrm>
            <a:off x="4746575" y="4738687"/>
            <a:ext cx="384125" cy="762000"/>
          </a:xfrm>
          <a:prstGeom prst="rect">
            <a:avLst/>
          </a:prstGeom>
          <a:solidFill>
            <a:srgbClr val="14B8A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5" name="Google Shape;365;p26"/>
          <p:cNvSpPr/>
          <p:nvPr/>
        </p:nvSpPr>
        <p:spPr>
          <a:xfrm>
            <a:off x="5206900" y="4786312"/>
            <a:ext cx="384125" cy="714375"/>
          </a:xfrm>
          <a:prstGeom prst="rect">
            <a:avLst/>
          </a:prstGeom>
          <a:solidFill>
            <a:srgbClr val="3B82F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66" name="Google Shape;366;p26"/>
          <p:cNvSpPr txBox="1"/>
          <p:nvPr/>
        </p:nvSpPr>
        <p:spPr>
          <a:xfrm>
            <a:off x="2657475" y="2443162"/>
            <a:ext cx="600075"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dirty="0">
                <a:solidFill>
                  <a:schemeClr val="bg2">
                    <a:lumMod val="40000"/>
                    <a:lumOff val="60000"/>
                  </a:schemeClr>
                </a:solidFill>
                <a:latin typeface="Inter"/>
                <a:ea typeface="Inter"/>
                <a:cs typeface="Inter"/>
                <a:sym typeface="Inter"/>
              </a:rPr>
              <a:t>ACTIVE BUYERS</a:t>
            </a:r>
            <a:endParaRPr sz="1000" dirty="0">
              <a:solidFill>
                <a:schemeClr val="bg2">
                  <a:lumMod val="40000"/>
                  <a:lumOff val="60000"/>
                </a:schemeClr>
              </a:solidFill>
            </a:endParaRPr>
          </a:p>
        </p:txBody>
      </p:sp>
      <p:sp>
        <p:nvSpPr>
          <p:cNvPr id="367" name="Google Shape;367;p26"/>
          <p:cNvSpPr txBox="1"/>
          <p:nvPr/>
        </p:nvSpPr>
        <p:spPr>
          <a:xfrm>
            <a:off x="3408496" y="2435244"/>
            <a:ext cx="466725"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dirty="0">
                <a:solidFill>
                  <a:srgbClr val="14B8A6"/>
                </a:solidFill>
                <a:latin typeface="Montserrat"/>
                <a:ea typeface="Montserrat"/>
                <a:cs typeface="Montserrat"/>
                <a:sym typeface="Montserrat"/>
              </a:rPr>
              <a:t>452</a:t>
            </a:r>
            <a:endParaRPr sz="1800" dirty="0"/>
          </a:p>
        </p:txBody>
      </p:sp>
      <p:sp>
        <p:nvSpPr>
          <p:cNvPr id="368" name="Google Shape;368;p26"/>
          <p:cNvSpPr txBox="1"/>
          <p:nvPr/>
        </p:nvSpPr>
        <p:spPr>
          <a:xfrm>
            <a:off x="4222483" y="2463715"/>
            <a:ext cx="638175"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00" b="0" i="0" u="none" strike="noStrike" cap="none" dirty="0">
                <a:solidFill>
                  <a:srgbClr val="94A3B8"/>
                </a:solidFill>
                <a:latin typeface="Inter"/>
                <a:ea typeface="Inter"/>
                <a:cs typeface="Inter"/>
                <a:sym typeface="Inter"/>
              </a:rPr>
              <a:t>AVERAGE SPEND</a:t>
            </a:r>
            <a:endParaRPr sz="1000" dirty="0"/>
          </a:p>
        </p:txBody>
      </p:sp>
      <p:sp>
        <p:nvSpPr>
          <p:cNvPr id="369" name="Google Shape;369;p26"/>
          <p:cNvSpPr txBox="1"/>
          <p:nvPr/>
        </p:nvSpPr>
        <p:spPr>
          <a:xfrm>
            <a:off x="4924425" y="2414586"/>
            <a:ext cx="89535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700" b="1" i="0" u="none" strike="noStrike" cap="none" dirty="0">
                <a:solidFill>
                  <a:srgbClr val="14B8A6"/>
                </a:solidFill>
                <a:latin typeface="Montserrat"/>
                <a:ea typeface="Montserrat"/>
                <a:cs typeface="Montserrat"/>
                <a:sym typeface="Montserrat"/>
              </a:rPr>
              <a:t>$60.46</a:t>
            </a:r>
            <a:endParaRPr sz="1700" dirty="0"/>
          </a:p>
        </p:txBody>
      </p:sp>
      <p:sp>
        <p:nvSpPr>
          <p:cNvPr id="370" name="Google Shape;370;p26"/>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Interactive BI Suite</a:t>
            </a:r>
            <a:endParaRPr/>
          </a:p>
        </p:txBody>
      </p:sp>
      <p:sp>
        <p:nvSpPr>
          <p:cNvPr id="371" name="Google Shape;371;p26"/>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Power BI </a:t>
            </a:r>
            <a:r>
              <a:rPr lang="en-US" sz="2550" b="0" i="0" u="none" strike="noStrike" cap="none">
                <a:solidFill>
                  <a:srgbClr val="D9A05B"/>
                </a:solidFill>
                <a:latin typeface="Montserrat ExtraBold"/>
                <a:ea typeface="Montserrat ExtraBold"/>
                <a:cs typeface="Montserrat ExtraBold"/>
                <a:sym typeface="Montserrat ExtraBold"/>
              </a:rPr>
              <a:t>Dashboard</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75"/>
        <p:cNvGrpSpPr/>
        <p:nvPr/>
      </p:nvGrpSpPr>
      <p:grpSpPr>
        <a:xfrm>
          <a:off x="0" y="0"/>
          <a:ext cx="0" cy="0"/>
          <a:chOff x="0" y="0"/>
          <a:chExt cx="0" cy="0"/>
        </a:xfrm>
      </p:grpSpPr>
      <p:pic>
        <p:nvPicPr>
          <p:cNvPr id="376" name="Google Shape;376;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7" name="Google Shape;377;p27" descr="image.png"/>
          <p:cNvPicPr preferRelativeResize="0"/>
          <p:nvPr/>
        </p:nvPicPr>
        <p:blipFill rotWithShape="1">
          <a:blip r:embed="rId4">
            <a:alphaModFix/>
          </a:blip>
          <a:srcRect/>
          <a:stretch/>
        </p:blipFill>
        <p:spPr>
          <a:xfrm>
            <a:off x="10015537" y="485775"/>
            <a:ext cx="1595437" cy="228600"/>
          </a:xfrm>
          <a:prstGeom prst="rect">
            <a:avLst/>
          </a:prstGeom>
          <a:noFill/>
          <a:ln>
            <a:noFill/>
          </a:ln>
        </p:spPr>
      </p:pic>
      <p:sp>
        <p:nvSpPr>
          <p:cNvPr id="378" name="Google Shape;378;p27"/>
          <p:cNvSpPr txBox="1"/>
          <p:nvPr/>
        </p:nvSpPr>
        <p:spPr>
          <a:xfrm>
            <a:off x="1009650" y="2652712"/>
            <a:ext cx="10601325"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FFFFFF"/>
                </a:solidFill>
                <a:latin typeface="Inter SemiBold"/>
                <a:ea typeface="Inter SemiBold"/>
                <a:cs typeface="Inter SemiBold"/>
                <a:sym typeface="Inter SemiBold"/>
              </a:rPr>
              <a:t>Boost Subscription Perks:</a:t>
            </a:r>
            <a:r>
              <a:rPr lang="en-US" sz="1087" b="0" i="0" u="none" strike="noStrike" cap="none">
                <a:solidFill>
                  <a:srgbClr val="E2E8F0"/>
                </a:solidFill>
                <a:latin typeface="Inter"/>
                <a:ea typeface="Inter"/>
                <a:cs typeface="Inter"/>
                <a:sym typeface="Inter"/>
              </a:rPr>
              <a:t> Promote members-only packaging and priority express delivery thresholds to naturally convert non-subscribers into active recurring users.</a:t>
            </a:r>
            <a:endParaRPr/>
          </a:p>
        </p:txBody>
      </p:sp>
      <p:sp>
        <p:nvSpPr>
          <p:cNvPr id="379" name="Google Shape;379;p27"/>
          <p:cNvSpPr txBox="1"/>
          <p:nvPr/>
        </p:nvSpPr>
        <p:spPr>
          <a:xfrm>
            <a:off x="1009650" y="3257550"/>
            <a:ext cx="10601325" cy="207168"/>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FFFFFF"/>
                </a:solidFill>
                <a:latin typeface="Inter SemiBold"/>
                <a:ea typeface="Inter SemiBold"/>
                <a:cs typeface="Inter SemiBold"/>
                <a:sym typeface="Inter SemiBold"/>
              </a:rPr>
              <a:t>Customer Loyalty Systems:</a:t>
            </a:r>
            <a:r>
              <a:rPr lang="en-US" sz="1087" b="0" i="0" u="none" strike="noStrike" cap="none">
                <a:solidFill>
                  <a:srgbClr val="E2E8F0"/>
                </a:solidFill>
                <a:latin typeface="Inter"/>
                <a:ea typeface="Inter"/>
                <a:cs typeface="Inter"/>
                <a:sym typeface="Inter"/>
              </a:rPr>
              <a:t> Construct targeted transactional milestones and points rewards to steadily guide new buyers into high-value repeat segments.</a:t>
            </a:r>
            <a:endParaRPr/>
          </a:p>
        </p:txBody>
      </p:sp>
      <p:sp>
        <p:nvSpPr>
          <p:cNvPr id="380" name="Google Shape;380;p27"/>
          <p:cNvSpPr txBox="1"/>
          <p:nvPr/>
        </p:nvSpPr>
        <p:spPr>
          <a:xfrm>
            <a:off x="1009650" y="3655218"/>
            <a:ext cx="10601325"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FFFFFF"/>
                </a:solidFill>
                <a:latin typeface="Inter SemiBold"/>
                <a:ea typeface="Inter SemiBold"/>
                <a:cs typeface="Inter SemiBold"/>
                <a:sym typeface="Inter SemiBold"/>
              </a:rPr>
              <a:t>Review Discount Policies:</a:t>
            </a:r>
            <a:r>
              <a:rPr lang="en-US" sz="1087" b="0" i="0" u="none" strike="noStrike" cap="none">
                <a:solidFill>
                  <a:srgbClr val="E2E8F0"/>
                </a:solidFill>
                <a:latin typeface="Inter"/>
                <a:ea typeface="Inter"/>
                <a:cs typeface="Inter"/>
                <a:sym typeface="Inter"/>
              </a:rPr>
              <a:t> Carefully review discount dependencies across key categories (e.g., Hats, Footwear), replacing broad markdowns with value-add bundles.</a:t>
            </a:r>
            <a:endParaRPr/>
          </a:p>
        </p:txBody>
      </p:sp>
      <p:sp>
        <p:nvSpPr>
          <p:cNvPr id="381" name="Google Shape;381;p27"/>
          <p:cNvSpPr txBox="1"/>
          <p:nvPr/>
        </p:nvSpPr>
        <p:spPr>
          <a:xfrm>
            <a:off x="1009650" y="4260056"/>
            <a:ext cx="10601325" cy="207168"/>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FFFFFF"/>
                </a:solidFill>
                <a:latin typeface="Inter SemiBold"/>
                <a:ea typeface="Inter SemiBold"/>
                <a:cs typeface="Inter SemiBold"/>
                <a:sym typeface="Inter SemiBold"/>
              </a:rPr>
              <a:t>Product Placement Campaigns:</a:t>
            </a:r>
            <a:r>
              <a:rPr lang="en-US" sz="1087" b="0" i="0" u="none" strike="noStrike" cap="none">
                <a:solidFill>
                  <a:srgbClr val="E2E8F0"/>
                </a:solidFill>
                <a:latin typeface="Inter"/>
                <a:ea typeface="Inter"/>
                <a:cs typeface="Inter"/>
                <a:sym typeface="Inter"/>
              </a:rPr>
              <a:t> Emphasize highly-rated and popular collections (Gloves, Sandals) in regional seasonal marketing assets.</a:t>
            </a:r>
            <a:endParaRPr/>
          </a:p>
        </p:txBody>
      </p:sp>
      <p:sp>
        <p:nvSpPr>
          <p:cNvPr id="382" name="Google Shape;382;p27"/>
          <p:cNvSpPr txBox="1"/>
          <p:nvPr/>
        </p:nvSpPr>
        <p:spPr>
          <a:xfrm>
            <a:off x="1009650" y="4657725"/>
            <a:ext cx="10601325" cy="414337"/>
          </a:xfrm>
          <a:prstGeom prst="rect">
            <a:avLst/>
          </a:prstGeom>
          <a:noFill/>
          <a:ln>
            <a:noFill/>
          </a:ln>
        </p:spPr>
        <p:txBody>
          <a:bodyPr spcFirstLastPara="1" wrap="square" lIns="0" tIns="0" rIns="0" bIns="0" anchor="t" anchorCtr="0">
            <a:spAutoFit/>
          </a:bodyPr>
          <a:lstStyle/>
          <a:p>
            <a:pPr marL="0" marR="0" lvl="0" indent="0" algn="l" rtl="0">
              <a:lnSpc>
                <a:spcPct val="150046"/>
              </a:lnSpc>
              <a:spcBef>
                <a:spcPts val="0"/>
              </a:spcBef>
              <a:spcAft>
                <a:spcPts val="0"/>
              </a:spcAft>
              <a:buNone/>
            </a:pPr>
            <a:r>
              <a:rPr lang="en-US" sz="1087" b="0" i="0" u="none" strike="noStrike" cap="none">
                <a:solidFill>
                  <a:srgbClr val="FFFFFF"/>
                </a:solidFill>
                <a:latin typeface="Inter SemiBold"/>
                <a:ea typeface="Inter SemiBold"/>
                <a:cs typeface="Inter SemiBold"/>
                <a:sym typeface="Inter SemiBold"/>
              </a:rPr>
              <a:t>Targeted Marketing Spend:</a:t>
            </a:r>
            <a:r>
              <a:rPr lang="en-US" sz="1087" b="0" i="0" u="none" strike="noStrike" cap="none">
                <a:solidFill>
                  <a:srgbClr val="E2E8F0"/>
                </a:solidFill>
                <a:latin typeface="Inter"/>
                <a:ea typeface="Inter"/>
                <a:cs typeface="Inter"/>
                <a:sym typeface="Inter"/>
              </a:rPr>
              <a:t> Focus marketing efforts on high-revenue age segments, leveraging express delivery benefits to naturally increase Average Order Value (AOV).</a:t>
            </a:r>
            <a:endParaRPr/>
          </a:p>
        </p:txBody>
      </p:sp>
      <p:pic>
        <p:nvPicPr>
          <p:cNvPr id="383" name="Google Shape;383;p27" descr="image.png"/>
          <p:cNvPicPr preferRelativeResize="0"/>
          <p:nvPr/>
        </p:nvPicPr>
        <p:blipFill rotWithShape="1">
          <a:blip r:embed="rId5">
            <a:alphaModFix/>
          </a:blip>
          <a:srcRect/>
          <a:stretch/>
        </p:blipFill>
        <p:spPr>
          <a:xfrm>
            <a:off x="657225" y="2676525"/>
            <a:ext cx="219075" cy="200025"/>
          </a:xfrm>
          <a:prstGeom prst="rect">
            <a:avLst/>
          </a:prstGeom>
          <a:noFill/>
          <a:ln>
            <a:noFill/>
          </a:ln>
        </p:spPr>
      </p:pic>
      <p:pic>
        <p:nvPicPr>
          <p:cNvPr id="384" name="Google Shape;384;p27" descr="image.png"/>
          <p:cNvPicPr preferRelativeResize="0"/>
          <p:nvPr/>
        </p:nvPicPr>
        <p:blipFill rotWithShape="1">
          <a:blip r:embed="rId6">
            <a:alphaModFix/>
          </a:blip>
          <a:srcRect/>
          <a:stretch/>
        </p:blipFill>
        <p:spPr>
          <a:xfrm>
            <a:off x="657225" y="3281362"/>
            <a:ext cx="190500" cy="200025"/>
          </a:xfrm>
          <a:prstGeom prst="rect">
            <a:avLst/>
          </a:prstGeom>
          <a:noFill/>
          <a:ln>
            <a:noFill/>
          </a:ln>
        </p:spPr>
      </p:pic>
      <p:pic>
        <p:nvPicPr>
          <p:cNvPr id="385" name="Google Shape;385;p27" descr="image.png"/>
          <p:cNvPicPr preferRelativeResize="0"/>
          <p:nvPr/>
        </p:nvPicPr>
        <p:blipFill rotWithShape="1">
          <a:blip r:embed="rId7">
            <a:alphaModFix/>
          </a:blip>
          <a:srcRect/>
          <a:stretch/>
        </p:blipFill>
        <p:spPr>
          <a:xfrm>
            <a:off x="657225" y="3679031"/>
            <a:ext cx="171450" cy="200025"/>
          </a:xfrm>
          <a:prstGeom prst="rect">
            <a:avLst/>
          </a:prstGeom>
          <a:noFill/>
          <a:ln>
            <a:noFill/>
          </a:ln>
        </p:spPr>
      </p:pic>
      <p:pic>
        <p:nvPicPr>
          <p:cNvPr id="386" name="Google Shape;386;p27" descr="image.png"/>
          <p:cNvPicPr preferRelativeResize="0"/>
          <p:nvPr/>
        </p:nvPicPr>
        <p:blipFill rotWithShape="1">
          <a:blip r:embed="rId8">
            <a:alphaModFix/>
          </a:blip>
          <a:srcRect/>
          <a:stretch/>
        </p:blipFill>
        <p:spPr>
          <a:xfrm>
            <a:off x="657225" y="4283868"/>
            <a:ext cx="219075" cy="200025"/>
          </a:xfrm>
          <a:prstGeom prst="rect">
            <a:avLst/>
          </a:prstGeom>
          <a:noFill/>
          <a:ln>
            <a:noFill/>
          </a:ln>
        </p:spPr>
      </p:pic>
      <p:pic>
        <p:nvPicPr>
          <p:cNvPr id="387" name="Google Shape;387;p27" descr="image.png"/>
          <p:cNvPicPr preferRelativeResize="0"/>
          <p:nvPr/>
        </p:nvPicPr>
        <p:blipFill rotWithShape="1">
          <a:blip r:embed="rId9">
            <a:alphaModFix/>
          </a:blip>
          <a:srcRect/>
          <a:stretch/>
        </p:blipFill>
        <p:spPr>
          <a:xfrm>
            <a:off x="657225" y="4681537"/>
            <a:ext cx="190500" cy="200025"/>
          </a:xfrm>
          <a:prstGeom prst="rect">
            <a:avLst/>
          </a:prstGeom>
          <a:noFill/>
          <a:ln>
            <a:noFill/>
          </a:ln>
        </p:spPr>
      </p:pic>
      <p:sp>
        <p:nvSpPr>
          <p:cNvPr id="388" name="Google Shape;388;p27"/>
          <p:cNvSpPr txBox="1"/>
          <p:nvPr/>
        </p:nvSpPr>
        <p:spPr>
          <a:xfrm>
            <a:off x="581025" y="485775"/>
            <a:ext cx="11029950" cy="22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200" b="1" i="0" u="none" strike="noStrike" cap="none">
                <a:solidFill>
                  <a:srgbClr val="14B8A6"/>
                </a:solidFill>
                <a:latin typeface="Inter"/>
                <a:ea typeface="Inter"/>
                <a:cs typeface="Inter"/>
                <a:sym typeface="Inter"/>
              </a:rPr>
              <a:t>Corporate Action Blueprint</a:t>
            </a:r>
            <a:endParaRPr/>
          </a:p>
        </p:txBody>
      </p:sp>
      <p:sp>
        <p:nvSpPr>
          <p:cNvPr id="389" name="Google Shape;389;p27"/>
          <p:cNvSpPr txBox="1"/>
          <p:nvPr/>
        </p:nvSpPr>
        <p:spPr>
          <a:xfrm>
            <a:off x="581025" y="904875"/>
            <a:ext cx="11581447"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0" i="0" u="none" strike="noStrike" cap="none">
                <a:solidFill>
                  <a:srgbClr val="FFFFFF"/>
                </a:solidFill>
                <a:latin typeface="Montserrat ExtraBold"/>
                <a:ea typeface="Montserrat ExtraBold"/>
                <a:cs typeface="Montserrat ExtraBold"/>
                <a:sym typeface="Montserrat ExtraBold"/>
              </a:rPr>
              <a:t>Strategic </a:t>
            </a:r>
            <a:r>
              <a:rPr lang="en-US" sz="2550" b="0" i="0" u="none" strike="noStrike" cap="none">
                <a:solidFill>
                  <a:srgbClr val="D9A05B"/>
                </a:solidFill>
                <a:latin typeface="Montserrat ExtraBold"/>
                <a:ea typeface="Montserrat ExtraBold"/>
                <a:cs typeface="Montserrat ExtraBold"/>
                <a:sym typeface="Montserrat ExtraBold"/>
              </a:rPr>
              <a:t>Recommendations</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TotalTime>
  <Words>915</Words>
  <Application>Microsoft Office PowerPoint</Application>
  <PresentationFormat>Widescreen</PresentationFormat>
  <Paragraphs>169</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DM Sans</vt:lpstr>
      <vt:lpstr>Montserrat ExtraBold</vt:lpstr>
      <vt:lpstr>Calibri</vt:lpstr>
      <vt:lpstr>Inter</vt:lpstr>
      <vt:lpstr>Montserrat</vt:lpstr>
      <vt:lpstr>Arial</vt:lpstr>
      <vt:lpstr>Inter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yuvraj yuvraj</cp:lastModifiedBy>
  <cp:revision>5</cp:revision>
  <dcterms:modified xsi:type="dcterms:W3CDTF">2026-06-06T13:35:06Z</dcterms:modified>
</cp:coreProperties>
</file>